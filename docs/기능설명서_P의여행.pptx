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1"/>
  </p:notesMasterIdLst>
  <p:sldIdLst>
    <p:sldId id="259" r:id="rId2"/>
    <p:sldId id="258" r:id="rId3"/>
    <p:sldId id="267" r:id="rId4"/>
    <p:sldId id="268" r:id="rId5"/>
    <p:sldId id="260" r:id="rId7"/>
    <p:sldId id="269" r:id="rId16"/>
    <p:sldId id="270" r:id="rId17"/>
    <p:sldId id="271" r:id="rId18"/>
    <p:sldId id="272" r:id="rId19"/>
    <p:sldId id="264" r:id="rId8"/>
    <p:sldId id="265" r:id="rId9"/>
    <p:sldId id="266" r:id="rId1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  <a:srgbClr val="FF6F00"/>
    <a:srgbClr val="FFA401"/>
    <a:srgbClr val="FFFDE7"/>
    <a:srgbClr val="FFFF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987" autoAdjust="0"/>
    <p:restoredTop sz="94660"/>
  </p:normalViewPr>
  <p:slideViewPr>
    <p:cSldViewPr snapToGrid="0">
      <p:cViewPr>
        <p:scale>
          <a:sx n="100" d="100"/>
          <a:sy n="100" d="100"/>
        </p:scale>
        <p:origin x="936" y="3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3549DB-4EF3-40B0-A785-8572249070D6}" type="datetimeFigureOut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4097B3-0D7D-4E86-933F-EBF9BA5F97E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32172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710554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소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622321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지역 특화 서비스 구현 세부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40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9998643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핵심 기능별 흐름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3438" y="18574"/>
            <a:ext cx="12165123" cy="68394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9664904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데이터 활용(한국관광공사 OpenAPI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912" y="13811"/>
            <a:ext cx="12184175" cy="6830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122898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데이터 활용(기타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8675" y="9047"/>
            <a:ext cx="12174649" cy="6839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9833825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서비스 차별성&amp;발전계획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그림 4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912" y="4284"/>
            <a:ext cx="12184175" cy="6849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9249390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38FB6A-844E-4645-B6B8-D2945F9927BB}" type="datetimeFigureOut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8832701-68F9-4777-ABB9-C14E97591467}" type="slidenum">
              <a:rPr lang="ko-KR" altLang="en-US" smtClean="0"/>
              <a:t>‹#›</a:t>
            </a:fld>
            <a:endParaRPr lang="ko-KR" altLang="en-US"/>
          </a:p>
        </p:txBody>
      </p:sp>
      <p:grpSp>
        <p:nvGrpSpPr>
          <p:cNvPr id="14" name="그룹 13"/>
          <p:cNvGrpSpPr/>
          <p:nvPr userDrawn="1"/>
        </p:nvGrpSpPr>
        <p:grpSpPr>
          <a:xfrm>
            <a:off x="189807" y="256797"/>
            <a:ext cx="11812386" cy="580915"/>
            <a:chOff x="189807" y="256797"/>
            <a:chExt cx="11812386" cy="580915"/>
          </a:xfrm>
        </p:grpSpPr>
        <p:grpSp>
          <p:nvGrpSpPr>
            <p:cNvPr id="10" name="그룹 9"/>
            <p:cNvGrpSpPr/>
            <p:nvPr/>
          </p:nvGrpSpPr>
          <p:grpSpPr>
            <a:xfrm>
              <a:off x="8161715" y="256797"/>
              <a:ext cx="3840478" cy="340519"/>
              <a:chOff x="6733312" y="182882"/>
              <a:chExt cx="3840478" cy="340519"/>
            </a:xfrm>
          </p:grpSpPr>
          <p:sp>
            <p:nvSpPr>
              <p:cNvPr id="12" name="TextBox 11"/>
              <p:cNvSpPr txBox="1"/>
              <p:nvPr/>
            </p:nvSpPr>
            <p:spPr>
              <a:xfrm>
                <a:off x="6733312" y="182882"/>
                <a:ext cx="2419001" cy="340519"/>
              </a:xfrm>
              <a:prstGeom prst="roundRect">
                <a:avLst/>
              </a:prstGeom>
              <a:solidFill>
                <a:srgbClr val="FF6F00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ko-KR" sz="1400" dirty="0" smtClean="0">
                    <a:solidFill>
                      <a:schemeClr val="bg1"/>
                    </a:solidFill>
                    <a:latin typeface="Noto Sans KR Medium" panose="020B0600000000000000" pitchFamily="34" charset="-127"/>
                    <a:ea typeface="Noto Sans KR Medium" panose="020B0600000000000000" pitchFamily="34" charset="-127"/>
                  </a:rPr>
                  <a:t>2026 </a:t>
                </a:r>
                <a:r>
                  <a:rPr lang="ko-KR" altLang="en-US" sz="1400" dirty="0" smtClean="0">
                    <a:solidFill>
                      <a:schemeClr val="bg1"/>
                    </a:solidFill>
                    <a:latin typeface="Noto Sans KR Medium" panose="020B0600000000000000" pitchFamily="34" charset="-127"/>
                    <a:ea typeface="Noto Sans KR Medium" panose="020B0600000000000000" pitchFamily="34" charset="-127"/>
                  </a:rPr>
                  <a:t>관광데이터 활용 공모전</a:t>
                </a:r>
                <a:endParaRPr lang="ko-KR" altLang="en-US" sz="1400" dirty="0">
                  <a:solidFill>
                    <a:schemeClr val="bg1"/>
                  </a:solidFill>
                  <a:latin typeface="Noto Sans KR Medium" panose="020B0600000000000000" pitchFamily="34" charset="-127"/>
                  <a:ea typeface="Noto Sans KR Medium" panose="020B0600000000000000" pitchFamily="34" charset="-127"/>
                </a:endParaRPr>
              </a:p>
            </p:txBody>
          </p:sp>
          <p:sp>
            <p:nvSpPr>
              <p:cNvPr id="13" name="TextBox 12"/>
              <p:cNvSpPr txBox="1"/>
              <p:nvPr/>
            </p:nvSpPr>
            <p:spPr>
              <a:xfrm>
                <a:off x="9246526" y="182882"/>
                <a:ext cx="1327264" cy="340519"/>
              </a:xfrm>
              <a:prstGeom prst="roundRect">
                <a:avLst/>
              </a:prstGeom>
              <a:solidFill>
                <a:srgbClr val="FFFDE7"/>
              </a:solidFill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ko-KR" altLang="en-US" sz="1400" dirty="0" smtClean="0">
                    <a:latin typeface="Noto Sans KR Medium" panose="020B0600000000000000" pitchFamily="34" charset="-127"/>
                    <a:ea typeface="Noto Sans KR Medium" panose="020B0600000000000000" pitchFamily="34" charset="-127"/>
                  </a:rPr>
                  <a:t>웹〮앱 개발 부문</a:t>
                </a:r>
                <a:endParaRPr lang="ko-KR" altLang="en-US" sz="1400" dirty="0">
                  <a:latin typeface="Noto Sans KR Medium" panose="020B0600000000000000" pitchFamily="34" charset="-127"/>
                  <a:ea typeface="Noto Sans KR Medium" panose="020B0600000000000000" pitchFamily="34" charset="-127"/>
                </a:endParaRPr>
              </a:p>
            </p:txBody>
          </p:sp>
        </p:grpSp>
        <p:sp>
          <p:nvSpPr>
            <p:cNvPr id="11" name="직사각형 10"/>
            <p:cNvSpPr/>
            <p:nvPr/>
          </p:nvSpPr>
          <p:spPr>
            <a:xfrm>
              <a:off x="189807" y="791993"/>
              <a:ext cx="11812386" cy="45719"/>
            </a:xfrm>
            <a:prstGeom prst="rect">
              <a:avLst/>
            </a:prstGeom>
            <a:solidFill>
              <a:srgbClr val="FF6F0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</p:spTree>
    <p:extLst>
      <p:ext uri="{BB962C8B-B14F-4D97-AF65-F5344CB8AC3E}">
        <p14:creationId xmlns:p14="http://schemas.microsoft.com/office/powerpoint/2010/main" val="1393944891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A38FB6A-844E-4645-B6B8-D2945F9927BB}" type="datetimeFigureOut">
              <a:rPr lang="ko-KR" altLang="en-US" smtClean="0"/>
              <a:t>2026-07-29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8832701-68F9-4777-ABB9-C14E9759146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173325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5" r:id="rId2"/>
    <p:sldLayoutId id="2147483660" r:id="rId3"/>
    <p:sldLayoutId id="2147483661" r:id="rId4"/>
    <p:sldLayoutId id="2147483662" r:id="rId5"/>
    <p:sldLayoutId id="2147483663" r:id="rId6"/>
    <p:sldLayoutId id="2147483664" r:id="rId7"/>
    <p:sldLayoutId id="2147483665" r:id="rId8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hyperlink" Target="https://apps.apple.com/kr/app/id6806749553" TargetMode="External"/><Relationship Id="rId3" Type="http://schemas.openxmlformats.org/officeDocument/2006/relationships/hyperlink" Target="https://youtu.be/q4jvO63vvQA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9.png"/><Relationship Id="rId3" Type="http://schemas.openxmlformats.org/officeDocument/2006/relationships/image" Target="../media/image14.png"/><Relationship Id="rId4" Type="http://schemas.openxmlformats.org/officeDocument/2006/relationships/image" Target="../media/image10.png"/><Relationship Id="rId5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2.png"/><Relationship Id="rId3" Type="http://schemas.openxmlformats.org/officeDocument/2006/relationships/image" Target="../media/image11.png"/><Relationship Id="rId4" Type="http://schemas.openxmlformats.org/officeDocument/2006/relationships/image" Target="../media/image13.png"/><Relationship Id="rId5" Type="http://schemas.openxmlformats.org/officeDocument/2006/relationships/image" Target="../media/image1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19.png"/><Relationship Id="rId5" Type="http://schemas.openxmlformats.org/officeDocument/2006/relationships/image" Target="../media/image1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23.png"/><Relationship Id="rId3" Type="http://schemas.openxmlformats.org/officeDocument/2006/relationships/image" Target="../media/image11.png"/><Relationship Id="rId4" Type="http://schemas.openxmlformats.org/officeDocument/2006/relationships/image" Target="../media/image24.png"/><Relationship Id="rId5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002065"/>
              </p:ext>
            </p:extLst>
          </p:nvPr>
        </p:nvGraphicFramePr>
        <p:xfrm>
          <a:off x="527397" y="4563687"/>
          <a:ext cx="6712988" cy="11122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91569">
                  <a:extLst>
                    <a:ext uri="{9D8B030D-6E8A-4147-A177-3AD203B41FA5}">
                      <a16:colId xmlns:a16="http://schemas.microsoft.com/office/drawing/2014/main" val="2581860913"/>
                    </a:ext>
                  </a:extLst>
                </a:gridCol>
                <a:gridCol w="4821419">
                  <a:extLst>
                    <a:ext uri="{9D8B030D-6E8A-4147-A177-3AD203B41FA5}">
                      <a16:colId xmlns:a16="http://schemas.microsoft.com/office/drawing/2014/main" val="1059508984"/>
                    </a:ext>
                  </a:extLst>
                </a:gridCol>
              </a:tblGrid>
              <a:tr h="54779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>
                          <a:solidFill>
                            <a:schemeClr val="bg1"/>
                          </a:solidFill>
                        </a:rPr>
                        <a:t>팀 명</a:t>
                      </a:r>
                      <a:endParaRPr lang="ko-KR" altLang="en-US" sz="24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ctr"/>
                      <a:r>
                        <a:rPr sz="2000">
                          <a:solidFill>
                            <a:srgbClr val="1F2326"/>
                          </a:solidFill>
                        </a:rPr>
                        <a:t>라이스쿠키</a:t>
                      </a:r>
                      <a:endParaRPr lang="ko-KR" alt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D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2559057"/>
                  </a:ext>
                </a:extLst>
              </a:tr>
              <a:tr h="5644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2400" b="1" dirty="0" smtClean="0">
                          <a:solidFill>
                            <a:schemeClr val="bg1"/>
                          </a:solidFill>
                        </a:rPr>
                        <a:t>서비스</a:t>
                      </a:r>
                      <a:r>
                        <a:rPr lang="ko-KR" altLang="en-US" sz="2400" b="1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sz="2400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sz="24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ctr"/>
                      <a:r>
                        <a:rPr sz="2000">
                          <a:solidFill>
                            <a:srgbClr val="1F2326"/>
                          </a:solidFill>
                        </a:rPr>
                        <a:t>P의여행:국도편</a:t>
                      </a:r>
                      <a:endParaRPr lang="ko-KR" alt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FDE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11698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5344982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표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31695012"/>
              </p:ext>
            </p:extLst>
          </p:nvPr>
        </p:nvGraphicFramePr>
        <p:xfrm>
          <a:off x="287250" y="1218429"/>
          <a:ext cx="11649825" cy="47501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547212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600">
                          <a:solidFill>
                            <a:srgbClr val="1F2326"/>
                          </a:solidFill>
                        </a:rPr>
                        <a:t>P의여행:국도편  (국도 위의 발견 레이더)</a:t>
                      </a:r>
                      <a:endParaRPr lang="en-US" altLang="ko-KR" sz="1800" b="0" baseline="0" dirty="0" smtClean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73106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 유형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500">
                          <a:solidFill>
                            <a:srgbClr val="1F2326"/>
                          </a:solidFill>
                        </a:rPr>
                        <a:t>앱 서비스 (iOS) · App Store 출시</a:t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r>
                        <a:rPr sz="1200">
                          <a:solidFill>
                            <a:srgbClr val="1F2326"/>
                          </a:solidFill>
                        </a:rPr>
                        <a:t>App Store  </a:t>
                      </a:r>
                      <a:r>
                        <a:rPr sz="1200">
                          <a:hlinkClick r:id="rId2"/>
                        </a:rPr>
                        <a:t>https://apps.apple.com/kr/app/id6806749553</a:t>
                      </a:r>
                    </a:p>
                    <a:p>
                      <a:r>
                        <a:rPr sz="1200">
                          <a:solidFill>
                            <a:srgbClr val="1F2326"/>
                          </a:solidFill>
                        </a:rPr>
                        <a:t>데모 영상  </a:t>
                      </a:r>
                      <a:r>
                        <a:rPr sz="1200">
                          <a:hlinkClick r:id="rId3"/>
                        </a:rPr>
                        <a:t>https://youtu.be/q4jvO63vvQA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26837495"/>
                  </a:ext>
                </a:extLst>
              </a:tr>
              <a:tr h="1030246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 개요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400" b="1">
                          <a:solidFill>
                            <a:srgbClr val="1F2326"/>
                          </a:solidFill>
                        </a:rPr>
                        <a:t>계획 없이 떠나도 알찬 하루가 되도록, 국도를 달리며 만나는 우연을 관광데이터로 뒷받침하는 즉흥 여행 앱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4568051"/>
                  </a:ext>
                </a:extLst>
              </a:tr>
              <a:tr h="244159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주제 선정 이유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 b="1">
                          <a:solidFill>
                            <a:srgbClr val="1F2326"/>
                          </a:solidFill>
                        </a:rPr>
                        <a:t>• 즉흥 여행의 확산</a:t>
                      </a:r>
                    </a:p>
                    <a:p>
                      <a:pPr algn="l" marL="201168" indent="-128016"/>
                      <a:r>
                        <a:rPr sz="1150">
                          <a:solidFill>
                            <a:srgbClr val="3E4347"/>
                          </a:solidFill>
                        </a:rPr>
                        <a:t>‒ 「풍향중」처럼 목적지 없이 떠나는 여행이 유행. 국도에서 우연히 만나는 새로움에 대한 수요 증가</a:t>
                      </a:r>
                    </a:p>
                    <a:p>
                      <a:pPr algn="l">
                        <a:spcBef>
                          <a:spcPts val="400"/>
                        </a:spcBef>
                      </a:pPr>
                      <a:r>
                        <a:rPr sz="1200" b="1">
                          <a:solidFill>
                            <a:srgbClr val="1F2326"/>
                          </a:solidFill>
                        </a:rPr>
                        <a:t>• 즉흥 여행의 리스크</a:t>
                      </a:r>
                    </a:p>
                    <a:p>
                      <a:pPr algn="l" marL="201168" indent="-128016"/>
                      <a:r>
                        <a:rPr sz="1150">
                          <a:solidFill>
                            <a:srgbClr val="3E4347"/>
                          </a:solidFill>
                        </a:rPr>
                        <a:t>‒ 지도책만으로 나서면 문 닫은 식당, 장이 서지 않는 날, 지나친 뒤 알게 되는 명소로 휴일을 낭비할 위험</a:t>
                      </a:r>
                    </a:p>
                    <a:p>
                      <a:pPr algn="l">
                        <a:spcBef>
                          <a:spcPts val="400"/>
                        </a:spcBef>
                      </a:pPr>
                      <a:r>
                        <a:rPr sz="1200" b="1">
                          <a:solidFill>
                            <a:srgbClr val="1F2326"/>
                          </a:solidFill>
                        </a:rPr>
                        <a:t>• 관광데이터의 가능성</a:t>
                      </a:r>
                    </a:p>
                    <a:p>
                      <a:pPr algn="l" marL="201168" indent="-128016"/>
                      <a:r>
                        <a:rPr sz="1150">
                          <a:solidFill>
                            <a:srgbClr val="3E4347"/>
                          </a:solidFill>
                        </a:rPr>
                        <a:t>‒ 관광공사 관광정보의 영업시간·휴무일·장날·사진·연관 관광지를 국도 선형과 현재 위치·진행 방향에 결합</a:t>
                      </a:r>
                    </a:p>
                    <a:p>
                      <a:pPr algn="l" marL="201168" indent="-128016"/>
                      <a:r>
                        <a:rPr sz="1150">
                          <a:solidFill>
                            <a:srgbClr val="3E4347"/>
                          </a:solidFill>
                        </a:rPr>
                        <a:t>‒ "지금 이 길 앞에 무엇이 있는가"로 전환</a:t>
                      </a:r>
                    </a:p>
                    <a:p>
                      <a:pPr algn="l">
                        <a:spcBef>
                          <a:spcPts val="400"/>
                        </a:spcBef>
                      </a:pPr>
                      <a:r>
                        <a:rPr sz="1200" b="1">
                          <a:solidFill>
                            <a:srgbClr val="1F2326"/>
                          </a:solidFill>
                        </a:rPr>
                        <a:t>• 기획 방향</a:t>
                      </a:r>
                    </a:p>
                    <a:p>
                      <a:pPr algn="l" marL="201168" indent="-128016"/>
                      <a:r>
                        <a:rPr sz="1150">
                          <a:solidFill>
                            <a:srgbClr val="3E4347"/>
                          </a:solidFill>
                        </a:rPr>
                        <a:t>‒ 목적지는 묻지 않되 우연을 데이터로 뒷받침하는 앱</a:t>
                      </a:r>
                    </a:p>
                    <a:p>
                      <a:pPr algn="l" marL="201168" indent="-128016"/>
                      <a:r>
                        <a:rPr sz="1150">
                          <a:solidFill>
                            <a:srgbClr val="3E4347"/>
                          </a:solidFill>
                        </a:rPr>
                        <a:t>‒ 국도에서 만난 우연이 하루의 여행기로 남고, 발길이 소도시·시장·자연으로 분산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260009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표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60646751"/>
              </p:ext>
            </p:extLst>
          </p:nvPr>
        </p:nvGraphicFramePr>
        <p:xfrm>
          <a:off x="287250" y="1218429"/>
          <a:ext cx="11649826" cy="47334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4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473348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 핵심기능</a:t>
                      </a:r>
                    </a:p>
                    <a:p>
                      <a:pPr algn="ctr" latinLnBrk="1"/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350" b="1">
                          <a:solidFill>
                            <a:srgbClr val="1F2326"/>
                          </a:solidFill>
                        </a:rPr>
                        <a:t>1. 길 선택과 출발</a:t>
                      </a:r>
                    </a:p>
                    <a:p>
                      <a:pPr algn="l" marL="201168" indent="-128016"/>
                      <a:r>
                        <a:rPr sz="1300">
                          <a:solidFill>
                            <a:srgbClr val="3E4347"/>
                          </a:solidFill>
                        </a:rPr>
                        <a:t>‒ Apple 지도 위에 국도 51선 전체 표시. 내 주변에서 탈 수 있는 길과 노선별 큐레이션 한 줄</a:t>
                      </a:r>
                    </a:p>
                    <a:p>
                      <a:pPr algn="l" marL="201168" indent="-128016"/>
                      <a:r>
                        <a:rPr sz="1300">
                          <a:solidFill>
                            <a:srgbClr val="3E4347"/>
                          </a:solidFill>
                        </a:rPr>
                        <a:t>‒ 목적지·도착 시각 없이 방향(북/남, 동/서)만 선택 → 티맵·애플 지도로 길안내 연결 (앱은 내비게이션이 아님)</a:t>
                      </a:r>
                    </a:p>
                    <a:p>
                      <a:pPr algn="l">
                        <a:spcBef>
                          <a:spcPts val="600"/>
                        </a:spcBef>
                      </a:pPr>
                      <a:r>
                        <a:rPr sz="1350" b="1">
                          <a:solidFill>
                            <a:srgbClr val="1F2326"/>
                          </a:solidFill>
                        </a:rPr>
                        <a:t>2. 발견 레이더</a:t>
                      </a:r>
                    </a:p>
                    <a:p>
                      <a:pPr algn="l" marL="201168" indent="-128016"/>
                      <a:r>
                        <a:rPr sz="1300">
                          <a:solidFill>
                            <a:srgbClr val="3E4347"/>
                          </a:solidFill>
                        </a:rPr>
                        <a:t>‒ 현재 위치·진행 방향 반경 5km에서 영업정보·사진이 확인된 스팟만 전면 카드 한 장으로 제시</a:t>
                      </a:r>
                    </a:p>
                    <a:p>
                      <a:pPr algn="l" marL="201168" indent="-128016"/>
                      <a:r>
                        <a:rPr sz="1300">
                          <a:solidFill>
                            <a:srgbClr val="3E4347"/>
                          </a:solidFill>
                        </a:rPr>
                        <a:t>‒ 별점·후기 없이 데이터 완성도로 신뢰 확보. 장날·일몰·마감 임박 우선. 넘기기 / 들르기 / 찜</a:t>
                      </a:r>
                    </a:p>
                    <a:p>
                      <a:pPr algn="l">
                        <a:spcBef>
                          <a:spcPts val="600"/>
                        </a:spcBef>
                      </a:pPr>
                      <a:r>
                        <a:rPr sz="1350" b="1">
                          <a:solidFill>
                            <a:srgbClr val="1F2326"/>
                          </a:solidFill>
                        </a:rPr>
                        <a:t>3. 소리와 알림</a:t>
                      </a:r>
                    </a:p>
                    <a:p>
                      <a:pPr algn="l" marL="201168" indent="-128016"/>
                      <a:r>
                        <a:rPr sz="1300">
                          <a:solidFill>
                            <a:srgbClr val="3E4347"/>
                          </a:solidFill>
                        </a:rPr>
                        <a:t>‒ 내비 실행 중에도 음성 우선 안내 (내비 음성을 끊지 않고 일시적으로 낮춤)</a:t>
                      </a:r>
                    </a:p>
                    <a:p>
                      <a:pPr algn="l" marL="201168" indent="-128016"/>
                      <a:r>
                        <a:rPr sz="1300">
                          <a:solidFill>
                            <a:srgbClr val="3E4347"/>
                          </a:solidFill>
                        </a:rPr>
                        <a:t>‒ 놓친 발견은 알림에 보관, 선택 시 상세 화면으로 이동</a:t>
                      </a:r>
                    </a:p>
                    <a:p>
                      <a:pPr algn="l">
                        <a:spcBef>
                          <a:spcPts val="600"/>
                        </a:spcBef>
                      </a:pPr>
                      <a:r>
                        <a:rPr sz="1350" b="1">
                          <a:solidFill>
                            <a:srgbClr val="1F2326"/>
                          </a:solidFill>
                        </a:rPr>
                        <a:t>4. 들른 뒤 이어가기</a:t>
                      </a:r>
                    </a:p>
                    <a:p>
                      <a:pPr algn="l" marL="201168" indent="-128016"/>
                      <a:r>
                        <a:rPr sz="1300">
                          <a:solidFill>
                            <a:srgbClr val="3E4347"/>
                          </a:solidFill>
                        </a:rPr>
                        <a:t>‒ 정차 2분 시 「여기서 앞쪽으로」 앞쪽 10km 후보 3곳 제시</a:t>
                      </a:r>
                    </a:p>
                    <a:p>
                      <a:pPr algn="l" marL="201168" indent="-128016"/>
                      <a:r>
                        <a:rPr sz="1300">
                          <a:solidFill>
                            <a:srgbClr val="3E4347"/>
                          </a:solidFill>
                        </a:rPr>
                        <a:t>‒ 주행 중 다른 국도로 갈아타도 여행과 기록 유지</a:t>
                      </a:r>
                    </a:p>
                    <a:p>
                      <a:pPr algn="l">
                        <a:spcBef>
                          <a:spcPts val="600"/>
                        </a:spcBef>
                      </a:pPr>
                      <a:r>
                        <a:rPr sz="1350" b="1">
                          <a:solidFill>
                            <a:srgbClr val="1F2326"/>
                          </a:solidFill>
                        </a:rPr>
                        <a:t>5. 여행기</a:t>
                      </a:r>
                    </a:p>
                    <a:p>
                      <a:pPr algn="l" marL="201168" indent="-128016"/>
                      <a:r>
                        <a:rPr sz="1300">
                          <a:solidFill>
                            <a:srgbClr val="3E4347"/>
                          </a:solidFill>
                        </a:rPr>
                        <a:t>‒ 하루를 「N번 국도에서 생긴 일」 한 편으로 자동 기록</a:t>
                      </a:r>
                    </a:p>
                    <a:p>
                      <a:pPr algn="l" marL="201168" indent="-128016"/>
                      <a:r>
                        <a:rPr sz="1300">
                          <a:solidFill>
                            <a:srgbClr val="3E4347"/>
                          </a:solidFill>
                        </a:rPr>
                        <a:t>‒ 지나온 길 포스터 · 들른 곳 타임라인 · 공유 카드(시작·끝 300m 자동 삭제) · 국도 51선 수집 현황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986881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7" name="표 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7559681"/>
              </p:ext>
            </p:extLst>
          </p:nvPr>
        </p:nvGraphicFramePr>
        <p:xfrm>
          <a:off x="287250" y="1218429"/>
          <a:ext cx="11649826" cy="499117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4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1847697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대표 이미지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(</a:t>
                      </a:r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썸네일</a:t>
                      </a:r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)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314348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서비스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 이미지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2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</a:tbl>
          </a:graphicData>
        </a:graphic>
      </p:graphicFrame>
      <p:pic>
        <p:nvPicPr>
          <p:cNvPr id="18" name="Picture 17" descr="썸네일_밝음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9936" y="1309869"/>
            <a:ext cx="2959674" cy="1664817"/>
          </a:xfrm>
          <a:prstGeom prst="rect">
            <a:avLst/>
          </a:prstGeom>
        </p:spPr>
      </p:pic>
      <p:pic>
        <p:nvPicPr>
          <p:cNvPr id="19" name="Picture 18" descr="1_ho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4040" y="3157566"/>
            <a:ext cx="1362619" cy="2960601"/>
          </a:xfrm>
          <a:prstGeom prst="rect">
            <a:avLst/>
          </a:prstGeom>
        </p:spPr>
      </p:pic>
      <p:pic>
        <p:nvPicPr>
          <p:cNvPr id="20" name="Picture 19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81252" y="3157566"/>
            <a:ext cx="1362619" cy="2960601"/>
          </a:xfrm>
          <a:prstGeom prst="rect">
            <a:avLst/>
          </a:prstGeom>
        </p:spPr>
      </p:pic>
      <p:pic>
        <p:nvPicPr>
          <p:cNvPr id="21" name="Picture 20" descr="3_c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8464" y="3157566"/>
            <a:ext cx="1362619" cy="2960601"/>
          </a:xfrm>
          <a:prstGeom prst="rect">
            <a:avLst/>
          </a:prstGeom>
        </p:spPr>
      </p:pic>
      <p:pic>
        <p:nvPicPr>
          <p:cNvPr id="22" name="Picture 21" descr="4_rada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35675" y="3157566"/>
            <a:ext cx="1362619" cy="2960601"/>
          </a:xfrm>
          <a:prstGeom prst="rect">
            <a:avLst/>
          </a:prstGeom>
        </p:spPr>
      </p:pic>
      <p:pic>
        <p:nvPicPr>
          <p:cNvPr id="23" name="Picture 22" descr="5_spo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462887" y="3157566"/>
            <a:ext cx="1362619" cy="29606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2296920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① 홈 = 지도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국도 51선 파란 선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「여기서 탈 수 있는 길」 + 노선별 큐레이션 한 줄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② 51선 전체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시트를 올리면 전체 목록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남북(홀수)·동서(짝수) 필터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③ 방향만 선택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「여기서 어느 쪽으로 갈까요?」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북/남 선택, 목적지 입력 없음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④ 길안내 핸드오프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티맵 / 애플 지도로 연결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앱 자체 턴바이턴·ETA 없음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기능1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길 선택 · 방향 결정 · 출발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>
                          <a:solidFill>
                            <a:srgbClr val="1F2326"/>
                          </a:solidFill>
                        </a:rPr>
                        <a:t>목적지가 아닌 길을 선택. 홈 지도에 국도 51선 전체 표시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sz="1100">
                          <a:solidFill>
                            <a:srgbClr val="1F2326"/>
                          </a:solidFill>
                        </a:rPr>
                        <a:t>방향만 정하면 출발. 길안내는 티맵·애플 지도로 연결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handoff-t1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194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74567" y="1101012"/>
            <a:ext cx="4770658" cy="307777"/>
          </a:xfrm>
          <a:prstGeom prst="rect">
            <a:avLst/>
          </a:prstGeom>
          <a:solidFill>
            <a:srgbClr val="FF6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 smtClean="0">
                <a:solidFill>
                  <a:schemeClr val="bg1"/>
                </a:solidFill>
              </a:rPr>
              <a:t>서비스 개발에 활용한 한국관광공사 </a:t>
            </a:r>
            <a:r>
              <a:rPr lang="en-US" altLang="ko-KR" sz="1400" b="1" dirty="0" smtClean="0">
                <a:solidFill>
                  <a:schemeClr val="bg1"/>
                </a:solidFill>
              </a:rPr>
              <a:t>OpenAPI </a:t>
            </a:r>
            <a:r>
              <a:rPr lang="ko-KR" altLang="en-US" sz="1400" b="1" dirty="0" smtClean="0">
                <a:solidFill>
                  <a:schemeClr val="bg1"/>
                </a:solidFill>
              </a:rPr>
              <a:t>리스트</a:t>
            </a:r>
            <a:endParaRPr lang="ko-KR" altLang="en-US" sz="1400" b="1" dirty="0">
              <a:solidFill>
                <a:schemeClr val="bg1"/>
              </a:solidFill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6638178"/>
              </p:ext>
            </p:extLst>
          </p:nvPr>
        </p:nvGraphicFramePr>
        <p:xfrm>
          <a:off x="174566" y="1646098"/>
          <a:ext cx="11628657" cy="3789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1150">
                  <a:extLst>
                    <a:ext uri="{9D8B030D-6E8A-4147-A177-3AD203B41FA5}">
                      <a16:colId xmlns:a16="http://schemas.microsoft.com/office/drawing/2014/main" val="842166946"/>
                    </a:ext>
                  </a:extLst>
                </a:gridCol>
                <a:gridCol w="1816388">
                  <a:extLst>
                    <a:ext uri="{9D8B030D-6E8A-4147-A177-3AD203B41FA5}">
                      <a16:colId xmlns:a16="http://schemas.microsoft.com/office/drawing/2014/main" val="3903607114"/>
                    </a:ext>
                  </a:extLst>
                </a:gridCol>
                <a:gridCol w="8991119">
                  <a:extLst>
                    <a:ext uri="{9D8B030D-6E8A-4147-A177-3AD203B41FA5}">
                      <a16:colId xmlns:a16="http://schemas.microsoft.com/office/drawing/2014/main" val="2519424337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 b="1">
                          <a:solidFill>
                            <a:srgbClr val="1F2326"/>
                          </a:solidFill>
                        </a:rPr>
                        <a:t>한국관광공사 국문 관광정보 서비스(KorService2) — 지역기반 관광정보 조회 areaBasedList2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772088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>전국 관광지·음식점·문화시설·쇼핑(5일장·상설시장) 목록을 시군구 단위로 수집</a:t>
                      </a:r>
                    </a:p>
                    <a:p>
                      <a:pPr algn="l"/>
                      <a:r>
                        <a:rPr sz="1000">
                          <a:solidFill>
                            <a:srgbClr val="1F2326"/>
                          </a:solidFill>
                        </a:rPr>
                        <a:t>국도 51선 선형 반경 회랑 내 스팟만 적재(19,957건) → 레이더·발견 카드의 후보 데이터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522436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국문 관광정보 — 공통정보 조회 detailCommon2 · 소개정보 조회 detailIntro2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8026807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개요·영업시간·휴무일·장날·전화번호 수집 → 신뢰도 게이트(영업정보·사진 확인)의 근거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sz="1000">
                          <a:solidFill>
                            <a:srgbClr val="1F2326"/>
                          </a:solidFill>
                        </a:rPr>
                        <a:t>카드 본문 생성 (예: 「3·8일에만 서는 장이라, 다음 장은 5일 뒤예요」)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851369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국문 관광정보 — 이미지정보 조회 detailImage2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554315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관광공사 사진을 전면 카드·스팟 상세·「오늘 들른 곳」 자취에 원본 그대로(워터마크 포함) 사용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sz="1000">
                          <a:solidFill>
                            <a:srgbClr val="1F2326"/>
                          </a:solidFill>
                        </a:rPr>
                        <a:t>사진이 없는 스팟은 카드로 노출하지 않음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0228473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국문 관광정보 — 법정동코드 조회 ldongCode2 · 위치기반 관광정보 조회 locationBasedList2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229970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시군구 코드 순회 수집과 연관 관광지 이름 매칭의 지역 키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sz="1000">
                          <a:solidFill>
                            <a:srgbClr val="1F2326"/>
                          </a:solidFill>
                        </a:rPr>
                        <a:t>위치기반 조회는 회랑 보강·검증에 활용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67204627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b="1" dirty="0" smtClean="0">
                          <a:solidFill>
                            <a:schemeClr val="bg1"/>
                          </a:solidFill>
                        </a:rPr>
                        <a:t>API</a:t>
                      </a:r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관광지별 연관 관광지 정보 서비스(TarRlteTarService1) — areaBasedList1 (baseYm 지정)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8013552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기준연월 두 시점(예: 202603·202606)을 비교해 "요즘 더 가는 곳"의 변화율 산출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sz="1000">
                          <a:solidFill>
                            <a:srgbClr val="1F2326"/>
                          </a:solidFill>
                        </a:rPr>
                        <a:t>노선 큐레이션(「요즘 이 길에 발길이 늘었어요」)과 「들른 차들은 다음에 ○○로 갔어요」의 근거</a:t>
                      </a:r>
                    </a:p>
                    <a:p>
                      <a:pPr algn="l"/>
                      <a:r>
                        <a:rPr sz="1000">
                          <a:solidFill>
                            <a:srgbClr val="1F2326"/>
                          </a:solidFill>
                        </a:rPr>
                        <a:t>두 시점이 없는 노선은 해당 월 연관 순위로 보조하되 문구 구분(「이 길로 다녀간 사람이 많아요」). 별점·후기 미사용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936885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229470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174567" y="1101012"/>
            <a:ext cx="3893580" cy="307777"/>
          </a:xfrm>
          <a:prstGeom prst="rect">
            <a:avLst/>
          </a:prstGeom>
          <a:solidFill>
            <a:srgbClr val="FF6F00"/>
          </a:solidFill>
        </p:spPr>
        <p:txBody>
          <a:bodyPr wrap="square" rtlCol="0">
            <a:spAutoFit/>
          </a:bodyPr>
          <a:lstStyle/>
          <a:p>
            <a:pPr algn="ctr"/>
            <a:r>
              <a:rPr lang="ko-KR" altLang="en-US" sz="1400" b="1" dirty="0" smtClean="0">
                <a:solidFill>
                  <a:schemeClr val="bg1"/>
                </a:solidFill>
              </a:rPr>
              <a:t>서비스 개발에 활용한 기타 </a:t>
            </a:r>
            <a:r>
              <a:rPr lang="en-US" altLang="ko-KR" sz="1400" b="1" dirty="0" smtClean="0">
                <a:solidFill>
                  <a:schemeClr val="bg1"/>
                </a:solidFill>
              </a:rPr>
              <a:t>API, </a:t>
            </a:r>
            <a:r>
              <a:rPr lang="ko-KR" altLang="en-US" sz="1400" b="1" dirty="0" err="1" smtClean="0">
                <a:solidFill>
                  <a:schemeClr val="bg1"/>
                </a:solidFill>
              </a:rPr>
              <a:t>파일데이터</a:t>
            </a:r>
            <a:endParaRPr lang="ko-KR" altLang="en-US" sz="1400" b="1" dirty="0">
              <a:solidFill>
                <a:schemeClr val="bg1"/>
              </a:solidFill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0626099"/>
              </p:ext>
            </p:extLst>
          </p:nvPr>
        </p:nvGraphicFramePr>
        <p:xfrm>
          <a:off x="174566" y="1646098"/>
          <a:ext cx="11628657" cy="2265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21150">
                  <a:extLst>
                    <a:ext uri="{9D8B030D-6E8A-4147-A177-3AD203B41FA5}">
                      <a16:colId xmlns:a16="http://schemas.microsoft.com/office/drawing/2014/main" val="842166946"/>
                    </a:ext>
                  </a:extLst>
                </a:gridCol>
                <a:gridCol w="1816388">
                  <a:extLst>
                    <a:ext uri="{9D8B030D-6E8A-4147-A177-3AD203B41FA5}">
                      <a16:colId xmlns:a16="http://schemas.microsoft.com/office/drawing/2014/main" val="3903607114"/>
                    </a:ext>
                  </a:extLst>
                </a:gridCol>
                <a:gridCol w="8991119">
                  <a:extLst>
                    <a:ext uri="{9D8B030D-6E8A-4147-A177-3AD203B41FA5}">
                      <a16:colId xmlns:a16="http://schemas.microsoft.com/office/drawing/2014/main" val="2519424337"/>
                    </a:ext>
                  </a:extLst>
                </a:gridCol>
              </a:tblGrid>
              <a:tr h="37084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 b="1">
                          <a:solidFill>
                            <a:srgbClr val="1F2326"/>
                          </a:solidFill>
                        </a:rPr>
                        <a:t>한국천문연구원 출몰시각 정보 OpenAPI (RiseSetInfoService)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7772088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>전망 스팟이 있는 0.1° 격자 × 30일의 일몰 시각을 사전 캐시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sz="1000">
                          <a:solidFill>
                            <a:srgbClr val="1F2326"/>
                          </a:solidFill>
                        </a:rPr>
                        <a:t>일몰 40분 전 뷰포인트 카드·알림(「곧 추암 촛대바위에 해가 져요」)의 기준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522436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소상공인시장진흥공단 전국전통시장표준데이터 (파일, CSV)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8026807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장날(3·8일 등)을 관광공사 시장 스팟에 결합 → 「오늘이 마침 장날」 카드와 다음 장 안내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sz="1000">
                          <a:solidFill>
                            <a:srgbClr val="1F2326"/>
                          </a:solidFill>
                        </a:rPr>
                        <a:t>사진·개요가 있는 관광공사 스팟에만 결합 (신규 스팟 생성 없음)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3851369"/>
                  </a:ext>
                </a:extLst>
              </a:tr>
              <a:tr h="381000">
                <a:tc rowSpan="2">
                  <a:txBody>
                    <a:bodyPr/>
                    <a:lstStyle/>
                    <a:p>
                      <a:pPr algn="ctr" latinLnBrk="1"/>
                      <a:r>
                        <a:rPr lang="en-US" altLang="ko-KR" sz="3200" b="1" dirty="0" smtClean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3200" b="1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err="1" smtClean="0">
                          <a:solidFill>
                            <a:schemeClr val="bg1"/>
                          </a:solidFill>
                        </a:rPr>
                        <a:t>데이터명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100" b="1">
                          <a:solidFill>
                            <a:srgbClr val="1F2326"/>
                          </a:solidFill>
                        </a:rPr>
                        <a:t>국토교통부 일반국도 도로중심선 (파일, SHP)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87554315"/>
                  </a:ext>
                </a:extLst>
              </a:tr>
              <a:tr h="38100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3200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상세설명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00">
                          <a:solidFill>
                            <a:srgbClr val="1F2326"/>
                          </a:solidFill>
                        </a:rPr>
                        <a:t>국도 51선 선형 → 홈 지도 폴리라인, 회랑 판정(스팟 적재 기준), 진출점 계산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sz="1000">
                          <a:solidFill>
                            <a:srgbClr val="1F2326"/>
                          </a:solidFill>
                        </a:rPr>
                        <a:t>여행기의 국도 51선 수집(지나온 점 맵매칭)에 활용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902284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7735648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8382877"/>
              </p:ext>
            </p:extLst>
          </p:nvPr>
        </p:nvGraphicFramePr>
        <p:xfrm>
          <a:off x="287250" y="1218429"/>
          <a:ext cx="11649825" cy="507430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5222">
                  <a:extLst>
                    <a:ext uri="{9D8B030D-6E8A-4147-A177-3AD203B41FA5}">
                      <a16:colId xmlns:a16="http://schemas.microsoft.com/office/drawing/2014/main" val="1299753452"/>
                    </a:ext>
                  </a:extLst>
                </a:gridCol>
                <a:gridCol w="9694603">
                  <a:extLst>
                    <a:ext uri="{9D8B030D-6E8A-4147-A177-3AD203B41FA5}">
                      <a16:colId xmlns:a16="http://schemas.microsoft.com/office/drawing/2014/main" val="3999346814"/>
                    </a:ext>
                  </a:extLst>
                </a:gridCol>
              </a:tblGrid>
              <a:tr h="246607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차별성</a:t>
                      </a:r>
                      <a:endParaRPr lang="en-US" altLang="ko-KR" b="1" dirty="0" smtClean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즉흥 여행 트렌드의 제품화</a:t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「풍향중」처럼 목적지 없이 떠나는 문화에 맞춘 앱. 즉흥은 유지하고 리스크(휴무·비장날·사진 없는 곳)만 데이터로 제거</a:t>
                      </a:r>
                    </a:p>
                    <a:p>
                      <a:pPr algn="l">
                        <a:spcBef>
                          <a:spcPts val="200"/>
                        </a:spcBef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시장에 없는 시점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출발 전 계획(여행 플랫폼)도 목적지 검색(내비)도 아닌 "주행 중" 관광정보 제공. 정보는 이동 중에</a:t>
                      </a:r>
                    </a:p>
                    <a:p>
                      <a:pPr algn="l">
                        <a:spcBef>
                          <a:spcPts val="200"/>
                        </a:spcBef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관광공사 데이터의 이동 맥락 재해석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장날·일몰·축제 기간을 현재 위치·진행 방향·시각에 결합. 천문연·전통시장·국토부 데이터를 국도 선형 위에서 결합</a:t>
                      </a:r>
                    </a:p>
                    <a:p>
                      <a:pPr algn="l">
                        <a:spcBef>
                          <a:spcPts val="200"/>
                        </a:spcBef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내비의 대체가 아닌 내비 위의 레이어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길안내는 티맵·애플 지도, 발견은 본 앱. 안내 중에도 「들르기」로 목적지 변경</a:t>
                      </a:r>
                    </a:p>
                    <a:p>
                      <a:pPr algn="l">
                        <a:spcBef>
                          <a:spcPts val="200"/>
                        </a:spcBef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신뢰 근거의 차별화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별점·리뷰 대신 영업정보·사진 검증과 이동 흔적(연관 관광지 두 시점 변화율)</a:t>
                      </a:r>
                    </a:p>
                    <a:p>
                      <a:pPr algn="l">
                        <a:spcBef>
                          <a:spcPts val="200"/>
                        </a:spcBef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자동 기록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주행 후 여행기·포스터·국도 51선 수집이 남는 앱. 계정·광고·추적 없음, 정확한 GPS 좌표는 기기 내 보관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09156"/>
                  </a:ext>
                </a:extLst>
              </a:tr>
              <a:tr h="2608231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발전계획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여행기 공유 → 「남이 달린 길」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여행기 공유로 다른 사용자가 같은 길을 선택. 계정 도입으로 보관·팔로우 지원. 별점·댓글 없이 "N명이 달림 · N명이 멈춤" 흔적만</a:t>
                      </a:r>
                    </a:p>
                    <a:p>
                      <a:pPr algn="l">
                        <a:spcBef>
                          <a:spcPts val="200"/>
                        </a:spcBef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사용자 정차 흔적 기반 큐레이션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익명 정차 기록으로 "실제로 멈춘 곳" 산출. 리뷰 없이 신뢰를 쌓는 장치</a:t>
                      </a:r>
                    </a:p>
                    <a:p>
                      <a:pPr algn="l">
                        <a:spcBef>
                          <a:spcPts val="200"/>
                        </a:spcBef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음성 조작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카드에 음성으로 응답(찜·들르기·넘기기). 핸즈프리 레이더</a:t>
                      </a:r>
                    </a:p>
                    <a:p>
                      <a:pPr algn="l">
                        <a:spcBef>
                          <a:spcPts val="200"/>
                        </a:spcBef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시간 기반 발견 확대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축제 기간(관광공사 행사정보)·야간 개장·계절 발견(단풍·벚꽃·해돋이)</a:t>
                      </a:r>
                    </a:p>
                    <a:p>
                      <a:pPr algn="l">
                        <a:spcBef>
                          <a:spcPts val="200"/>
                        </a:spcBef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데이터 갱신·확장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수집 파이프라인 상시화, 농산물 직판장·로컬푸드·지역 축제로 소도시 공백 보완, 구간 코스 자동 생성</a:t>
                      </a:r>
                    </a:p>
                    <a:p>
                      <a:pPr algn="l">
                        <a:spcBef>
                          <a:spcPts val="200"/>
                        </a:spcBef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• Android 확장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유지 중인 코드 분기를 활용한 포팅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741215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8856896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① 레이더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내 위치 기준 앞쪽 스팟(유형별 색)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경로를 따르지 않아 길을 바꿔도 동작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② 발견 카드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「오늘이 마침 북평민속오일장이에요」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「여기서 약 1.2km」 · 넘기기 / 들르기 / 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③ 스팟 상세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관광공사 사진·개요·영업정보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별점 없이 「네이버 후기 보기」 링크만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④ 들르기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티맵 목적지 변경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「오늘 들른 곳」 자취에 사진으로 기록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기능2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발견 레이더 · 전면 카드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>
                          <a:solidFill>
                            <a:srgbClr val="1F2326"/>
                          </a:solidFill>
                        </a:rPr>
                        <a:t>현재 위치·진행 방향 반경 5km에서 영업정보·사진이 확인된 스팟만 카드 한 장으로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sz="1100">
                          <a:solidFill>
                            <a:srgbClr val="1F2326"/>
                          </a:solidFill>
                        </a:rPr>
                        <a:t>장날·일몰·마감 임박 우선. 넘기기 / 들르기 / 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4_ra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20" name="Picture 19" descr="3_c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21" name="Picture 20" descr="5_spo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22" name="Picture 21" descr="radar-t26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① 자동 표시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들른 뒤 2분 정차 시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「여기서 앞쪽으로」 펼침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② 앞쪽 후보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10km 안 후보 3곳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「그냥 7번 국도로 돌아가기」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③ 길 바꾸기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상단 뱃지 선택 → 「길을 바꿀까요?」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인근 국도로 전환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④ 기록 유지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여행은 하루, 국도는 구간(43 → 6번)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거리·들른 곳 그대로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기능3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들른 뒤 이어가기 · 길 바꾸기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>
                          <a:solidFill>
                            <a:srgbClr val="1F2326"/>
                          </a:solidFill>
                        </a:rPr>
                        <a:t>식사 후 다음 행선지를 정하는 순간 지원. 정차 2분이면 앞쪽 10km 후보 제시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sz="1100">
                          <a:solidFill>
                            <a:srgbClr val="1F2326"/>
                          </a:solidFill>
                        </a:rPr>
                        <a:t>다른 국도로 갈아타도 여행과 기록 유지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next2-t1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20" name="Picture 19" descr="next2-t2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21" name="Picture 20" descr="switch-t1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22" name="Picture 21" descr="4_rad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① 여행기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「EP.6 — 43번 국도에서 생긴 일」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실제 GPS 선 포스터 + 타임라인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② 공유 카드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지도 · 들른 곳 번호 목록 · 「들른 발견 N」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시작·끝 300m 자동 삭제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③ 마이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여행기 목록 · 찜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국도 51선 수집 현황 · 설정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④ 여행 마치기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레이더의 「오늘 여행 마치기」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한 번으로 하루 종료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기능4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여행기 · 공유 포스터 · 국도 51선 수집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>
                          <a:solidFill>
                            <a:srgbClr val="1F2326"/>
                          </a:solidFill>
                        </a:rPr>
                        <a:t>「오늘 여행 마치기」 선택 시 지나온 길과 들른 곳을 한 편의 여행기로 자동 생성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sz="1100">
                          <a:solidFill>
                            <a:srgbClr val="1F2326"/>
                          </a:solidFill>
                        </a:rPr>
                        <a:t>포스터 한 장으로 공유. 지나온 국도를 51선 기준으로 누적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trip-t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20" name="Picture 19" descr="share_card_8sto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82614" y="2333623"/>
            <a:ext cx="1810405" cy="2659904"/>
          </a:xfrm>
          <a:prstGeom prst="rect">
            <a:avLst/>
          </a:prstGeom>
        </p:spPr>
      </p:pic>
      <p:pic>
        <p:nvPicPr>
          <p:cNvPr id="21" name="Picture 20" descr="my-t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22" name="Picture 21" descr="4_rada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7004574"/>
              </p:ext>
            </p:extLst>
          </p:nvPr>
        </p:nvGraphicFramePr>
        <p:xfrm>
          <a:off x="302952" y="1933326"/>
          <a:ext cx="11426308" cy="460584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6577">
                  <a:extLst>
                    <a:ext uri="{9D8B030D-6E8A-4147-A177-3AD203B41FA5}">
                      <a16:colId xmlns:a16="http://schemas.microsoft.com/office/drawing/2014/main" val="9568321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2325135401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669866357"/>
                    </a:ext>
                  </a:extLst>
                </a:gridCol>
                <a:gridCol w="2856577">
                  <a:extLst>
                    <a:ext uri="{9D8B030D-6E8A-4147-A177-3AD203B41FA5}">
                      <a16:colId xmlns:a16="http://schemas.microsoft.com/office/drawing/2014/main" val="1337599892"/>
                    </a:ext>
                  </a:extLst>
                </a:gridCol>
              </a:tblGrid>
              <a:tr h="327145"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기능</a:t>
                      </a:r>
                      <a:r>
                        <a:rPr lang="ko-KR" altLang="en-US" baseline="0" dirty="0" smtClean="0">
                          <a:solidFill>
                            <a:schemeClr val="bg1"/>
                          </a:solidFill>
                        </a:rPr>
                        <a:t> </a:t>
                      </a:r>
                      <a:r>
                        <a:rPr lang="ko-KR" altLang="en-US" dirty="0" smtClean="0">
                          <a:solidFill>
                            <a:schemeClr val="bg1"/>
                          </a:solidFill>
                        </a:rPr>
                        <a:t>흐름도</a:t>
                      </a:r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 latinLnBrk="1"/>
                      <a:endParaRPr lang="ko-KR" altLang="en-US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6F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32358826"/>
                  </a:ext>
                </a:extLst>
              </a:tr>
              <a:tr h="2806208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en-US" altLang="ko-KR" sz="1800" b="0" dirty="0" smtClean="0">
                        <a:solidFill>
                          <a:srgbClr val="FF0000"/>
                        </a:solidFill>
                        <a:latin typeface="+mn-lt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00">
                          <a:solidFill>
                            <a:srgbClr val="1F2326"/>
                          </a:solidFill>
                        </a:rPr>
                        <a:t/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57600838"/>
                  </a:ext>
                </a:extLst>
              </a:tr>
              <a:tr h="1433874"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050" b="1">
                          <a:solidFill>
                            <a:srgbClr val="1F2326"/>
                          </a:solidFill>
                        </a:rPr>
                        <a:t>① 온보딩</a:t>
                      </a:r>
                      <a:endParaRPr lang="en-US" altLang="ko-KR" b="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「앞쪽에 뭐가 있는지, 카드 한 장으로」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소리·알림 안내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② 음성 낭독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카드 문장을 그대로 읽음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내비 음성을 끊지 않고 잠시 낮춤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③ 설정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「앱을 꺼둬도 알림」(백그라운드 위치 옵트인)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「발견 간격」 자주·보통·가끔 · 데이터 출처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 wrap="square"/>
                    <a:lstStyle/>
                    <a:p>
                      <a:pPr algn="l" latinLnBrk="1"/>
                      <a:r>
                        <a:rPr sz="1050" b="1">
                          <a:solidFill>
                            <a:srgbClr val="1F2326"/>
                          </a:solidFill>
                        </a:rPr>
                        <a:t>④ 알림 → 상세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알림 선택 시</a:t>
                      </a:r>
                    </a:p>
                    <a:p>
                      <a:pPr algn="l" marL="201168" indent="-128016"/>
                      <a:r>
                        <a:rPr sz="1000">
                          <a:solidFill>
                            <a:srgbClr val="3E4347"/>
                          </a:solidFill>
                        </a:rPr>
                        <a:t>‒ 해당 발견의 상세 화면으로 이동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93083417"/>
                  </a:ext>
                </a:extLst>
              </a:tr>
            </a:tbl>
          </a:graphicData>
        </a:graphic>
      </p:graphicFrame>
      <p:graphicFrame>
        <p:nvGraphicFramePr>
          <p:cNvPr id="15" name="표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44280268"/>
              </p:ext>
            </p:extLst>
          </p:nvPr>
        </p:nvGraphicFramePr>
        <p:xfrm>
          <a:off x="302952" y="1130530"/>
          <a:ext cx="11426308" cy="731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82764">
                  <a:extLst>
                    <a:ext uri="{9D8B030D-6E8A-4147-A177-3AD203B41FA5}">
                      <a16:colId xmlns:a16="http://schemas.microsoft.com/office/drawing/2014/main" val="837638667"/>
                    </a:ext>
                  </a:extLst>
                </a:gridCol>
                <a:gridCol w="9643544">
                  <a:extLst>
                    <a:ext uri="{9D8B030D-6E8A-4147-A177-3AD203B41FA5}">
                      <a16:colId xmlns:a16="http://schemas.microsoft.com/office/drawing/2014/main" val="2364043552"/>
                    </a:ext>
                  </a:extLst>
                </a:gridCol>
              </a:tblGrid>
              <a:tr h="236913">
                <a:tc>
                  <a:txBody>
                    <a:bodyPr wrap="square"/>
                    <a:lstStyle/>
                    <a:p>
                      <a:pPr algn="ctr" latinLnBrk="1"/>
                      <a:r>
                        <a:rPr sz="1400" b="1">
                          <a:solidFill>
                            <a:srgbClr val="1F2326"/>
                          </a:solidFill>
                        </a:rPr>
                        <a:t>핵심 기능5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latinLnBrk="1" algn="l"/>
                      <a:r>
                        <a:rPr sz="1400" b="1">
                          <a:solidFill>
                            <a:srgbClr val="1F2326"/>
                          </a:solidFill>
                        </a:rPr>
                        <a:t>소리 · 알림 · 설정</a:t>
                      </a:r>
                      <a:endParaRPr lang="ko-KR" altLang="en-US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6143207"/>
                  </a:ext>
                </a:extLst>
              </a:tr>
              <a:tr h="236913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b="1" dirty="0" smtClean="0">
                          <a:solidFill>
                            <a:schemeClr val="bg1"/>
                          </a:solidFill>
                        </a:rPr>
                        <a:t>기능 설명</a:t>
                      </a:r>
                      <a:endParaRPr lang="ko-KR" altLang="en-US" b="1" dirty="0">
                        <a:solidFill>
                          <a:schemeClr val="bg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A401"/>
                    </a:solidFill>
                  </a:tcPr>
                </a:tc>
                <a:tc>
                  <a:txBody>
                    <a:bodyPr wrap="square"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sz="1100">
                          <a:solidFill>
                            <a:srgbClr val="1F2326"/>
                          </a:solidFill>
                        </a:rPr>
                        <a:t>주행 중 화면 대신 소리로 우선 안내, 놓친 발견은 알림에 보관</a:t>
                      </a:r>
                      <a:endParaRPr lang="ko-KR" altLang="en-US" b="0" dirty="0" smtClean="0">
                        <a:solidFill>
                          <a:schemeClr val="tx1"/>
                        </a:solidFill>
                      </a:endParaRPr>
                    </a:p>
                    <a:p>
                      <a:pPr algn="l"/>
                      <a:r>
                        <a:rPr sz="1100">
                          <a:solidFill>
                            <a:srgbClr val="1F2326"/>
                          </a:solidFill>
                        </a:rPr>
                        <a:t>위치 권한은 출발 시, 알림 권한은 첫 주행 후 요청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8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02682219"/>
                  </a:ext>
                </a:extLst>
              </a:tr>
            </a:tbl>
          </a:graphicData>
        </a:graphic>
      </p:graphicFrame>
      <p:pic>
        <p:nvPicPr>
          <p:cNvPr id="16" name="Picture 15" descr="1_ho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17" name="Picture 16" descr="home_expan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18" name="Picture 17" descr="2_depa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19" name="Picture 18" descr="onboard3-t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9128" y="2333623"/>
            <a:ext cx="1224223" cy="2659904"/>
          </a:xfrm>
          <a:prstGeom prst="rect">
            <a:avLst/>
          </a:prstGeom>
        </p:spPr>
      </p:pic>
      <p:pic>
        <p:nvPicPr>
          <p:cNvPr id="20" name="Picture 19" descr="3_c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5705" y="2333623"/>
            <a:ext cx="1224223" cy="2659904"/>
          </a:xfrm>
          <a:prstGeom prst="rect">
            <a:avLst/>
          </a:prstGeom>
        </p:spPr>
      </p:pic>
      <p:pic>
        <p:nvPicPr>
          <p:cNvPr id="21" name="Picture 20" descr="myset2-t8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32282" y="2333623"/>
            <a:ext cx="1224223" cy="2659904"/>
          </a:xfrm>
          <a:prstGeom prst="rect">
            <a:avLst/>
          </a:prstGeom>
        </p:spPr>
      </p:pic>
      <p:pic>
        <p:nvPicPr>
          <p:cNvPr id="22" name="Picture 21" descr="5_spo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88859" y="2333623"/>
            <a:ext cx="1224223" cy="265990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408</TotalTime>
  <Words>549</Words>
  <Application>Microsoft Office PowerPoint</Application>
  <PresentationFormat>와이드스크린</PresentationFormat>
  <Paragraphs>95</Paragraphs>
  <Slides>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3" baseType="lpstr">
      <vt:lpstr>Noto Sans KR Medium</vt:lpstr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KTO</dc:creator>
  <cp:lastModifiedBy>USER</cp:lastModifiedBy>
  <cp:revision>64</cp:revision>
  <dcterms:created xsi:type="dcterms:W3CDTF">2026-07-07T05:25:59Z</dcterms:created>
  <dcterms:modified xsi:type="dcterms:W3CDTF">2026-07-29T05:45:18Z</dcterms:modified>
</cp:coreProperties>
</file>