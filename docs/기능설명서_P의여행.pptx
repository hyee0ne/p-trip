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9" r:id="rId2"/>
    <p:sldId id="258" r:id="rId3"/>
    <p:sldId id="267" r:id="rId4"/>
    <p:sldId id="268" r:id="rId5"/>
    <p:sldId id="260" r:id="rId7"/>
    <p:sldId id="269" r:id="rId16"/>
    <p:sldId id="270" r:id="rId17"/>
    <p:sldId id="271" r:id="rId18"/>
    <p:sldId id="272" r:id="rId19"/>
    <p:sldId id="264" r:id="rId8"/>
    <p:sldId id="265" r:id="rId9"/>
    <p:sldId id="26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6F00"/>
    <a:srgbClr val="FFA401"/>
    <a:srgbClr val="FFFDE7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3549DB-4EF3-40B0-A785-8572249070D6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097B3-0D7D-4E86-933F-EBF9BA5F9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217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055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223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지역 특화 서비스 구현 세부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998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핵심 기능별 흐름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438" y="18574"/>
            <a:ext cx="12165123" cy="683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664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데이터 활용(한국관광공사 OpenAPI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12" y="13811"/>
            <a:ext cx="12184175" cy="68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2289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데이터 활용(기타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75" y="9047"/>
            <a:ext cx="12174649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833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차별성&amp;발전계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12" y="4284"/>
            <a:ext cx="12184175" cy="6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2493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8FB6A-844E-4645-B6B8-D2945F9927BB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32701-68F9-4777-ABB9-C14E97591467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4" name="그룹 13"/>
          <p:cNvGrpSpPr/>
          <p:nvPr userDrawn="1"/>
        </p:nvGrpSpPr>
        <p:grpSpPr>
          <a:xfrm>
            <a:off x="189807" y="256797"/>
            <a:ext cx="11812386" cy="580915"/>
            <a:chOff x="189807" y="256797"/>
            <a:chExt cx="11812386" cy="580915"/>
          </a:xfrm>
        </p:grpSpPr>
        <p:grpSp>
          <p:nvGrpSpPr>
            <p:cNvPr id="10" name="그룹 9"/>
            <p:cNvGrpSpPr/>
            <p:nvPr/>
          </p:nvGrpSpPr>
          <p:grpSpPr>
            <a:xfrm>
              <a:off x="8161715" y="256797"/>
              <a:ext cx="3840478" cy="340519"/>
              <a:chOff x="6733312" y="182882"/>
              <a:chExt cx="3840478" cy="340519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6733312" y="182882"/>
                <a:ext cx="2419001" cy="340519"/>
              </a:xfrm>
              <a:prstGeom prst="roundRect">
                <a:avLst/>
              </a:prstGeom>
              <a:solidFill>
                <a:srgbClr val="FF6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 smtClean="0">
                    <a:solidFill>
                      <a:schemeClr val="bg1"/>
                    </a:solidFill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2026 </a:t>
                </a:r>
                <a:r>
                  <a:rPr lang="ko-KR" altLang="en-US" sz="1400" dirty="0" smtClean="0">
                    <a:solidFill>
                      <a:schemeClr val="bg1"/>
                    </a:solidFill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관광데이터 활용 공모전</a:t>
                </a:r>
                <a:endParaRPr lang="ko-KR" altLang="en-US" sz="1400" dirty="0">
                  <a:solidFill>
                    <a:schemeClr val="bg1"/>
                  </a:solidFill>
                  <a:latin typeface="Noto Sans KR Medium" panose="020B0600000000000000" pitchFamily="34" charset="-127"/>
                  <a:ea typeface="Noto Sans KR Medium" panose="020B0600000000000000" pitchFamily="34" charset="-127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9246526" y="182882"/>
                <a:ext cx="1327264" cy="340519"/>
              </a:xfrm>
              <a:prstGeom prst="roundRect">
                <a:avLst/>
              </a:prstGeom>
              <a:solidFill>
                <a:srgbClr val="FFFDE7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 smtClean="0"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웹〮앱 개발 부문</a:t>
                </a:r>
                <a:endParaRPr lang="ko-KR" altLang="en-US" sz="1400" dirty="0">
                  <a:latin typeface="Noto Sans KR Medium" panose="020B0600000000000000" pitchFamily="34" charset="-127"/>
                  <a:ea typeface="Noto Sans KR Medium" panose="020B0600000000000000" pitchFamily="34" charset="-127"/>
                </a:endParaRPr>
              </a:p>
            </p:txBody>
          </p:sp>
        </p:grpSp>
        <p:sp>
          <p:nvSpPr>
            <p:cNvPr id="11" name="직사각형 10"/>
            <p:cNvSpPr/>
            <p:nvPr/>
          </p:nvSpPr>
          <p:spPr>
            <a:xfrm>
              <a:off x="189807" y="791993"/>
              <a:ext cx="11812386" cy="45719"/>
            </a:xfrm>
            <a:prstGeom prst="rect">
              <a:avLst/>
            </a:prstGeom>
            <a:solidFill>
              <a:srgbClr val="FF6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939448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8FB6A-844E-4645-B6B8-D2945F9927BB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32701-68F9-4777-ABB9-C14E975914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332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pps.apple.com/kr/app/id6806749553" TargetMode="External"/><Relationship Id="rId3" Type="http://schemas.openxmlformats.org/officeDocument/2006/relationships/hyperlink" Target="https://youtu.be/q4jvO63vvQA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png"/><Relationship Id="rId3" Type="http://schemas.openxmlformats.org/officeDocument/2006/relationships/image" Target="../media/image11.png"/><Relationship Id="rId4" Type="http://schemas.openxmlformats.org/officeDocument/2006/relationships/image" Target="../media/image24.png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02065"/>
              </p:ext>
            </p:extLst>
          </p:nvPr>
        </p:nvGraphicFramePr>
        <p:xfrm>
          <a:off x="527397" y="4563687"/>
          <a:ext cx="6712988" cy="1112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569">
                  <a:extLst>
                    <a:ext uri="{9D8B030D-6E8A-4147-A177-3AD203B41FA5}">
                      <a16:colId xmlns:a16="http://schemas.microsoft.com/office/drawing/2014/main" val="2581860913"/>
                    </a:ext>
                  </a:extLst>
                </a:gridCol>
                <a:gridCol w="4821419">
                  <a:extLst>
                    <a:ext uri="{9D8B030D-6E8A-4147-A177-3AD203B41FA5}">
                      <a16:colId xmlns:a16="http://schemas.microsoft.com/office/drawing/2014/main" val="1059508984"/>
                    </a:ext>
                  </a:extLst>
                </a:gridCol>
              </a:tblGrid>
              <a:tr h="5477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</a:rPr>
                        <a:t>팀 명</a:t>
                      </a:r>
                      <a:endParaRPr lang="ko-KR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1" algn="ctr"/>
                      <a:r>
                        <a:rPr sz="2000">
                          <a:solidFill>
                            <a:srgbClr val="1F2326"/>
                          </a:solidFill>
                        </a:rPr>
                        <a:t>라이스쿠키</a:t>
                      </a:r>
                      <a:endParaRPr lang="ko-KR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559057"/>
                  </a:ext>
                </a:extLst>
              </a:tr>
              <a:tr h="5644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</a:rPr>
                        <a:t>서비스</a:t>
                      </a:r>
                      <a:r>
                        <a:rPr lang="ko-KR" altLang="en-US" sz="2400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1" algn="ctr"/>
                      <a:r>
                        <a:rPr sz="2000">
                          <a:solidFill>
                            <a:srgbClr val="1F2326"/>
                          </a:solidFill>
                        </a:rPr>
                        <a:t>P의여행:국도편</a:t>
                      </a:r>
                      <a:endParaRPr lang="ko-KR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169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449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695012"/>
              </p:ext>
            </p:extLst>
          </p:nvPr>
        </p:nvGraphicFramePr>
        <p:xfrm>
          <a:off x="287250" y="1218429"/>
          <a:ext cx="11649825" cy="47501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5472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rgbClr val="1F2326"/>
                          </a:solidFill>
                        </a:rPr>
                        <a:t>P의여행:국도편  (P의 여행 — 국도 위의 발견 레이더)</a:t>
                      </a:r>
                      <a:endParaRPr lang="en-US" altLang="ko-KR" sz="1800" b="0" baseline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7310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 유형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>
                          <a:solidFill>
                            <a:srgbClr val="1F2326"/>
                          </a:solidFill>
                        </a:rPr>
                        <a:t>앱 서비스 (iOS) · App Store 출시</a:t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r>
                        <a:rPr sz="1200">
                          <a:solidFill>
                            <a:srgbClr val="1F2326"/>
                          </a:solidFill>
                        </a:rPr>
                        <a:t>App Store  </a:t>
                      </a:r>
                      <a:r>
                        <a:rPr sz="1200">
                          <a:hlinkClick r:id="rId2"/>
                        </a:rPr>
                        <a:t>https://apps.apple.com/kr/app/id6806749553</a:t>
                      </a:r>
                    </a:p>
                    <a:p>
                      <a:r>
                        <a:rPr sz="1200">
                          <a:solidFill>
                            <a:srgbClr val="1F2326"/>
                          </a:solidFill>
                        </a:rPr>
                        <a:t>데모 영상  </a:t>
                      </a:r>
                      <a:r>
                        <a:rPr sz="1200">
                          <a:hlinkClick r:id="rId3"/>
                        </a:rPr>
                        <a:t>https://youtu.be/q4jvO63vvQA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837495"/>
                  </a:ext>
                </a:extLst>
              </a:tr>
              <a:tr h="10302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 개요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1">
                          <a:solidFill>
                            <a:srgbClr val="1F2326"/>
                          </a:solidFill>
                        </a:rPr>
                        <a:t>목적지 없이 국도를 달려도 휴일을 버리지 않게 — 관광데이터로 검증된 발견을 지나치기 전에 알려주는 즉흥 여행 앱.</a:t>
                      </a:r>
                    </a:p>
                    <a:p>
                      <a:pPr algn="l"/>
                      <a:r>
                        <a:rPr sz="1400">
                          <a:solidFill>
                            <a:srgbClr val="1F2326"/>
                          </a:solidFill>
                        </a:rPr>
                        <a:t>국도와 방향만 고르면, 앞쪽에 있는 오늘 서는 장·일몰·확인된 맛집을 카드 한 장으로 건넵니다.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568051"/>
                  </a:ext>
                </a:extLst>
              </a:tr>
              <a:tr h="24415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주제 선정 이유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>
                          <a:solidFill>
                            <a:srgbClr val="1F2326"/>
                          </a:solidFill>
                        </a:rPr>
                        <a:t>• 요즘 「풍향중」처럼 목적지 없이 떠나는 여행이 유행입니다. 정해진 관광지보다 국도를 달리다 우연히 만나는 것에서 새로움을 찾는 니즈가 커졌습니다.</a:t>
                      </a:r>
                    </a:p>
                    <a:p>
                      <a:pPr algn="l"/>
                      <a:r>
                        <a:rPr sz="1200">
                          <a:solidFill>
                            <a:srgbClr val="1F2326"/>
                          </a:solidFill>
                        </a:rPr>
                        <a:t>• 그런데 정말 지도책 한 권만 들고 나서면 일반인에게는 리스크가 큽니다. 문 닫은 식당, 장이 안 서는 날, 지나치고 나서야 알게 되는 명소 — 소중한 휴일 하루를 통째로 버릴 수 있습니다.</a:t>
                      </a:r>
                    </a:p>
                    <a:p>
                      <a:pPr algn="l"/>
                      <a:r>
                        <a:rPr sz="1200">
                          <a:solidFill>
                            <a:srgbClr val="1F2326"/>
                          </a:solidFill>
                        </a:rPr>
                        <a:t>• 한국관광공사 관광정보에는 그 리스크를 줄일 재료가 이미 있습니다. 영업시간·휴무일·장날·사진·연관 관광지. 이를 국도 선형과 현재 위치·진행 방향에 겹치면 "지금 이 길 앞에 무엇이 있는가"가 됩니다.</a:t>
                      </a:r>
                    </a:p>
                    <a:p>
                      <a:pPr algn="l"/>
                      <a:r>
                        <a:rPr sz="1200">
                          <a:solidFill>
                            <a:srgbClr val="1F2326"/>
                          </a:solidFill>
                        </a:rPr>
                        <a:t>• 그래서 목적지는 묻지 않되, 우연을 데이터로 받쳐 주는 앱을 만들었습니다. 국도를 달리며 만난 우연이 하루의 추억(여행기)으로 남고, 발길이 대도시 밖 소도시·시장·자연으로 흩어지는 일과도 맞닿습니다.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000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646751"/>
              </p:ext>
            </p:extLst>
          </p:nvPr>
        </p:nvGraphicFramePr>
        <p:xfrm>
          <a:off x="287250" y="1218429"/>
          <a:ext cx="11649826" cy="4733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4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47334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 핵심기능</a:t>
                      </a:r>
                    </a:p>
                    <a:p>
                      <a:pPr algn="ctr" latinLnBrk="1"/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>
                          <a:solidFill>
                            <a:srgbClr val="1F2326"/>
                          </a:solidFill>
                        </a:rPr>
                        <a:t>1. 지도에서 길 고르고, 방향만 정하고 출발 — Apple 지도 위에 국도 51선 전부. 내 주변에서 탈 수 있는 길과 노선별 큐레이션 한 줄(「오늘 이 길에 장이 3곳 서요」). 목적지·도착 시각은 묻지 않는다 — 북/남(동/서)만 고르면 티맵·애플 지도로 길안내를 넘긴다 (앱은 내비게이션이 아니다)</a:t>
                      </a:r>
                    </a:p>
                    <a:p>
                      <a:pPr algn="l"/>
                      <a:r>
                        <a:rPr sz="1400">
                          <a:solidFill>
                            <a:srgbClr val="1F2326"/>
                          </a:solidFill>
                        </a:rPr>
                        <a:t>2. 발견 레이더 — 현재 위치 + 진행 방향 반경 5km에서 영업정보·사진이 확인된 스팟만 전면 카드 한 장으로. 별점·후기는 쓰지 않는다 — 신뢰는 데이터 완성도로. 장날·일몰·마감 임박을 우선. 넘기기 / 들르기 / 찜</a:t>
                      </a:r>
                    </a:p>
                    <a:p>
                      <a:pPr algn="l"/>
                      <a:r>
                        <a:rPr sz="1400">
                          <a:solidFill>
                            <a:srgbClr val="1F2326"/>
                          </a:solidFill>
                        </a:rPr>
                        <a:t>3. 소리와 알림 — 내비를 켜둔 채여도 음성으로 먼저(내비 음성을 끊지 않고 잠깐 낮춘다). 놓치면 알림에 남고, 누르면 그 발견의 상세로</a:t>
                      </a:r>
                    </a:p>
                    <a:p>
                      <a:pPr algn="l"/>
                      <a:r>
                        <a:rPr sz="1400">
                          <a:solidFill>
                            <a:srgbClr val="1F2326"/>
                          </a:solidFill>
                        </a:rPr>
                        <a:t>4. 들른 뒤 이어가기 — 차가 2분 서 있으면 「여기서 앞쪽으로」 앞쪽 10km 후보 3곳. 여행 중 다른 국도로 갈아타도 여행과 기록은 이어진다</a:t>
                      </a:r>
                    </a:p>
                    <a:p>
                      <a:pPr algn="l"/>
                      <a:r>
                        <a:rPr sz="1400">
                          <a:solidFill>
                            <a:srgbClr val="1F2326"/>
                          </a:solidFill>
                        </a:rPr>
                        <a:t>5. 여행기 — 하루가 「N번 국도에서 생긴 일」 한 편으로. 지나온 길 포스터·들른 곳 타임라인·공유 카드(시작·끝 300m 자동 삭제)·국도 51선 수집 진행률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868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559681"/>
              </p:ext>
            </p:extLst>
          </p:nvPr>
        </p:nvGraphicFramePr>
        <p:xfrm>
          <a:off x="287250" y="1218429"/>
          <a:ext cx="11649826" cy="4991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4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18476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대표 이미지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썸네일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>
                          <a:solidFill>
                            <a:srgbClr val="1F2326"/>
                          </a:solidFill>
                        </a:rPr>
                        <a:t/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31434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 이미지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>
                          <a:solidFill>
                            <a:srgbClr val="1F2326"/>
                          </a:solidFill>
                        </a:rPr>
                        <a:t/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  <p:pic>
        <p:nvPicPr>
          <p:cNvPr id="18" name="Picture 17" descr="썸네일_밝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9936" y="1309869"/>
            <a:ext cx="2959674" cy="1664817"/>
          </a:xfrm>
          <a:prstGeom prst="rect">
            <a:avLst/>
          </a:prstGeom>
        </p:spPr>
      </p:pic>
      <p:pic>
        <p:nvPicPr>
          <p:cNvPr id="19" name="Picture 18" descr="1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4040" y="3157566"/>
            <a:ext cx="1362619" cy="2960601"/>
          </a:xfrm>
          <a:prstGeom prst="rect">
            <a:avLst/>
          </a:prstGeom>
        </p:spPr>
      </p:pic>
      <p:pic>
        <p:nvPicPr>
          <p:cNvPr id="20" name="Picture 19" descr="2_dep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252" y="3157566"/>
            <a:ext cx="1362619" cy="2960601"/>
          </a:xfrm>
          <a:prstGeom prst="rect">
            <a:avLst/>
          </a:prstGeom>
        </p:spPr>
      </p:pic>
      <p:pic>
        <p:nvPicPr>
          <p:cNvPr id="21" name="Picture 20" descr="3_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464" y="3157566"/>
            <a:ext cx="1362619" cy="2960601"/>
          </a:xfrm>
          <a:prstGeom prst="rect">
            <a:avLst/>
          </a:prstGeom>
        </p:spPr>
      </p:pic>
      <p:pic>
        <p:nvPicPr>
          <p:cNvPr id="22" name="Picture 21" descr="4_rad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5675" y="3157566"/>
            <a:ext cx="1362619" cy="2960601"/>
          </a:xfrm>
          <a:prstGeom prst="rect">
            <a:avLst/>
          </a:prstGeom>
        </p:spPr>
      </p:pic>
      <p:pic>
        <p:nvPicPr>
          <p:cNvPr id="23" name="Picture 22" descr="5_sp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2887" y="3157566"/>
            <a:ext cx="1362619" cy="296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969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1933326"/>
          <a:ext cx="11426308" cy="4605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흐름도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806208"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>
                          <a:solidFill>
                            <a:srgbClr val="1F2326"/>
                          </a:solidFill>
                        </a:rPr>
                        <a:t/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>
                          <a:solidFill>
                            <a:srgbClr val="1F2326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>
                          <a:solidFill>
                            <a:srgbClr val="1F2326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>
                          <a:solidFill>
                            <a:srgbClr val="1F2326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>
                          <a:solidFill>
                            <a:srgbClr val="1F2326"/>
                          </a:solidFill>
                        </a:rPr>
                        <a:t>① 홈 = 지도. 국도 51선 파란 선, 「여기서 탈 수 있는 길」과 노선별 큐레이션 한 줄</a:t>
                      </a:r>
                      <a:endParaRPr lang="en-US" altLang="ko-KR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1"/>
                      <a:r>
                        <a:rPr sz="1050">
                          <a:solidFill>
                            <a:srgbClr val="1F2326"/>
                          </a:solidFill>
                        </a:rPr>
                        <a:t>② 시트를 올리면 「국도 51선」 전체. 남북(홀수)·동서(짝수) 필터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1"/>
                      <a:r>
                        <a:rPr sz="1050">
                          <a:solidFill>
                            <a:srgbClr val="1F2326"/>
                          </a:solidFill>
                        </a:rPr>
                        <a:t>③ 노선을 고르면 「여기서 어느 쪽으로 갈까요?」 — 북쪽/남쪽만 정한다. 목적지는 묻지 않는다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1"/>
                      <a:r>
                        <a:rPr sz="1050">
                          <a:solidFill>
                            <a:srgbClr val="1F2326"/>
                          </a:solidFill>
                        </a:rPr>
                        <a:t>④ 티맵 / 애플 지도로 핸드오프. 앱은 턴바이턴·ETA를 만들지 않는다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400" b="1">
                          <a:solidFill>
                            <a:srgbClr val="1F2326"/>
                          </a:solidFill>
                        </a:rPr>
                        <a:t>핵심 기능1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1" algn="l"/>
                      <a:r>
                        <a:rPr sz="1400" b="1">
                          <a:solidFill>
                            <a:srgbClr val="1F2326"/>
                          </a:solidFill>
                        </a:rPr>
                        <a:t>길 고르기 · 방향만 정하고 출발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기능 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50">
                          <a:solidFill>
                            <a:srgbClr val="1F2326"/>
                          </a:solidFill>
                        </a:rPr>
                        <a:t>목적지가 아니라 길을 고른다. 홈 지도에 국도 51선이 다 그려져 있고, 방향만 정하면 출발이다. 길안내는 티맵·애플 지도로 넘긴다.</a:t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  <p:pic>
        <p:nvPicPr>
          <p:cNvPr id="16" name="Picture 15" descr="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28" y="2333623"/>
            <a:ext cx="1224223" cy="2659904"/>
          </a:xfrm>
          <a:prstGeom prst="rect">
            <a:avLst/>
          </a:prstGeom>
        </p:spPr>
      </p:pic>
      <p:pic>
        <p:nvPicPr>
          <p:cNvPr id="17" name="Picture 16" descr="home_expa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705" y="2333623"/>
            <a:ext cx="1224223" cy="2659904"/>
          </a:xfrm>
          <a:prstGeom prst="rect">
            <a:avLst/>
          </a:prstGeom>
        </p:spPr>
      </p:pic>
      <p:pic>
        <p:nvPicPr>
          <p:cNvPr id="18" name="Picture 17" descr="2_dep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282" y="2333623"/>
            <a:ext cx="1224223" cy="2659904"/>
          </a:xfrm>
          <a:prstGeom prst="rect">
            <a:avLst/>
          </a:prstGeom>
        </p:spPr>
      </p:pic>
      <p:pic>
        <p:nvPicPr>
          <p:cNvPr id="19" name="Picture 18" descr="handoff-t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8859" y="2333623"/>
            <a:ext cx="1224223" cy="265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4567" y="1101012"/>
            <a:ext cx="4770658" cy="307777"/>
          </a:xfrm>
          <a:prstGeom prst="rect">
            <a:avLst/>
          </a:prstGeom>
          <a:solidFill>
            <a:srgbClr val="FF6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chemeClr val="bg1"/>
                </a:solidFill>
              </a:rPr>
              <a:t>서비스 개발에 활용한 한국관광공사 </a:t>
            </a:r>
            <a:r>
              <a:rPr lang="en-US" altLang="ko-KR" sz="1400" b="1" dirty="0" smtClean="0">
                <a:solidFill>
                  <a:schemeClr val="bg1"/>
                </a:solidFill>
              </a:rPr>
              <a:t>OpenAPI </a:t>
            </a:r>
            <a:r>
              <a:rPr lang="ko-KR" altLang="en-US" sz="1400" b="1" dirty="0" smtClean="0">
                <a:solidFill>
                  <a:schemeClr val="bg1"/>
                </a:solidFill>
              </a:rPr>
              <a:t>리스트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638178"/>
              </p:ext>
            </p:extLst>
          </p:nvPr>
        </p:nvGraphicFramePr>
        <p:xfrm>
          <a:off x="174566" y="1646098"/>
          <a:ext cx="11628657" cy="378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16388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8991119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b="1">
                          <a:solidFill>
                            <a:srgbClr val="1F2326"/>
                          </a:solidFill>
                        </a:rPr>
                        <a:t>한국관광공사 국문 관광정보 서비스(KorService2) — 지역기반 관광정보 조회 areaBasedList2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>
                          <a:solidFill>
                            <a:srgbClr val="1F2326"/>
                          </a:solidFill>
                        </a:rPr>
                        <a:t>전국 관광지·음식점·문화시설·쇼핑(5일장·상설시장) 목록을 시군구 단위로 수집해 국도 51선 선형 반경 회랑 안의 스팟만 적재 (19,957건). 레이더·발견 카드의 후보가 된다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1"/>
                      <a:r>
                        <a:rPr sz="1100" b="1">
                          <a:solidFill>
                            <a:srgbClr val="1F2326"/>
                          </a:solidFill>
                        </a:rPr>
                        <a:t>국문 관광정보 — 공통정보 조회 detailCommon2 · 소개정보 조회 detailIntro2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1"/>
                      <a:r>
                        <a:rPr sz="1000">
                          <a:solidFill>
                            <a:srgbClr val="1F2326"/>
                          </a:solidFill>
                        </a:rPr>
                        <a:t>개요·영업시간·휴무일·장날(5일장)·전화를 받아 신뢰도 게이트(영업정보·사진 확인) 근거와 카드 본문(「3·8일에만 서는 장이라, 다음 장은 5일 뒤예요」)을 만든다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1"/>
                      <a:r>
                        <a:rPr sz="1100" b="1">
                          <a:solidFill>
                            <a:srgbClr val="1F2326"/>
                          </a:solidFill>
                        </a:rPr>
                        <a:t>국문 관광정보 — 이미지정보 조회 detailImage2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1"/>
                      <a:r>
                        <a:rPr sz="1000">
                          <a:solidFill>
                            <a:srgbClr val="1F2326"/>
                          </a:solidFill>
                        </a:rPr>
                        <a:t>관광공사 사진을 전면 카드·스팟 상세·「오늘 들른 곳」 자취에 원본 그대로(워터마크 포함) 쓴다. 사진이 없는 곳은 카드로 띄우지 않는다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1"/>
                      <a:r>
                        <a:rPr sz="1100" b="1">
                          <a:solidFill>
                            <a:srgbClr val="1F2326"/>
                          </a:solidFill>
                        </a:rPr>
                        <a:t>국문 관광정보 — 법정동코드 조회 ldongCode2 · 위치기반 관광정보 조회 locationBasedList2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229970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1"/>
                      <a:r>
                        <a:rPr sz="1000">
                          <a:solidFill>
                            <a:srgbClr val="1F2326"/>
                          </a:solidFill>
                        </a:rPr>
                        <a:t>시군구 코드 순회 수집과 연관 관광지 이름 매칭의 지역 키. 위치기반 조회는 회랑 보강·검증에 쓴다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204627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1"/>
                      <a:r>
                        <a:rPr sz="1100" b="1">
                          <a:solidFill>
                            <a:srgbClr val="1F2326"/>
                          </a:solidFill>
                        </a:rPr>
                        <a:t>관광지별 연관 관광지 정보 서비스(TarRlteTarService1) — areaBasedList1 (baseYm 지정)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013552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1"/>
                      <a:r>
                        <a:rPr sz="1000">
                          <a:solidFill>
                            <a:srgbClr val="1F2326"/>
                          </a:solidFill>
                        </a:rPr>
                        <a:t>기준연월 두 시점(예: 202603·202606)을 각각 받아 비교해 "요즘 더 가는 곳"의 변화율을 산출 → 노선 큐레이션 한 줄(「요즘 이 길에 발길이 늘었어요」)과 「들른 차들은 다음에 ○○로 갔어요」의 근거. 두 시점이 없는 노선만 그 달의 연관 순위로 보조하되 문구를 달리 쓴다(「이 길로 다녀간 사람이 많아요」). 별점·후기는 쓰지 않는다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688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947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4567" y="1101012"/>
            <a:ext cx="3893580" cy="307777"/>
          </a:xfrm>
          <a:prstGeom prst="rect">
            <a:avLst/>
          </a:prstGeom>
          <a:solidFill>
            <a:srgbClr val="FF6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chemeClr val="bg1"/>
                </a:solidFill>
              </a:rPr>
              <a:t>서비스 개발에 활용한 기타 </a:t>
            </a:r>
            <a:r>
              <a:rPr lang="en-US" altLang="ko-KR" sz="1400" b="1" dirty="0" smtClean="0">
                <a:solidFill>
                  <a:schemeClr val="bg1"/>
                </a:solidFill>
              </a:rPr>
              <a:t>API, </a:t>
            </a:r>
            <a:r>
              <a:rPr lang="ko-KR" altLang="en-US" sz="1400" b="1" dirty="0" err="1" smtClean="0">
                <a:solidFill>
                  <a:schemeClr val="bg1"/>
                </a:solidFill>
              </a:rPr>
              <a:t>파일데이터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626099"/>
              </p:ext>
            </p:extLst>
          </p:nvPr>
        </p:nvGraphicFramePr>
        <p:xfrm>
          <a:off x="174566" y="1646098"/>
          <a:ext cx="11628657" cy="226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16388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8991119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b="1">
                          <a:solidFill>
                            <a:srgbClr val="1F2326"/>
                          </a:solidFill>
                        </a:rPr>
                        <a:t>한국천문연구원 출몰시각 정보 OpenAPI (RiseSetInfoService)</a:t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>
                          <a:solidFill>
                            <a:srgbClr val="1F2326"/>
                          </a:solidFill>
                        </a:rPr>
                        <a:t>전망 스팟이 있는 0.1° 격자 × 앞날 30일의 일몰 시각을 미리 캐시. 일몰 40분 전 뷰포인트 카드·알림(「곧 추암 촛대바위에 해가 져요」)의 기준</a:t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1"/>
                      <a:r>
                        <a:rPr sz="1100" b="1">
                          <a:solidFill>
                            <a:srgbClr val="1F2326"/>
                          </a:solidFill>
                        </a:rPr>
                        <a:t>소상공인시장진흥공단 전국전통시장표준데이터 (파일, CSV)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1"/>
                      <a:r>
                        <a:rPr sz="1000">
                          <a:solidFill>
                            <a:srgbClr val="1F2326"/>
                          </a:solidFill>
                        </a:rPr>
                        <a:t>장날(3·8일 등)을 관광공사의 시장 스팟에 결합. 「오늘이 마침 장날」 카드와 다음 장 안내. 시장을 새 스팟으로 만들지 않고 사진·개요가 있는 관광공사 스팟에만 붙인다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1"/>
                      <a:r>
                        <a:rPr sz="1100" b="1">
                          <a:solidFill>
                            <a:srgbClr val="1F2326"/>
                          </a:solidFill>
                        </a:rPr>
                        <a:t>국토교통부 일반국도 도로중심선 (파일, SHP)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1"/>
                      <a:r>
                        <a:rPr sz="1000">
                          <a:solidFill>
                            <a:srgbClr val="1F2326"/>
                          </a:solidFill>
                        </a:rPr>
                        <a:t>국도 51선 선형. 홈 지도 폴리라인, 회랑 판정(스팟 적재 기준), 진출점 계산, 여행기의 국도 51선 수집(지나온 점 맵매칭)에 쓴다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7356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382877"/>
              </p:ext>
            </p:extLst>
          </p:nvPr>
        </p:nvGraphicFramePr>
        <p:xfrm>
          <a:off x="287250" y="1218429"/>
          <a:ext cx="11649825" cy="5074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24660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차별성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>
                          <a:solidFill>
                            <a:srgbClr val="1F2326"/>
                          </a:solidFill>
                        </a:rPr>
                        <a:t>• 목적지가 아니라 길을 고른다 — 내비의 문법을 뒤집은 진입 흐름. 출발 전 검색·계획을 요구하지 않고 정보는 달리면서 나온다</a:t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algn="l"/>
                      <a:r>
                        <a:rPr sz="1150">
                          <a:solidFill>
                            <a:srgbClr val="1F2326"/>
                          </a:solidFill>
                        </a:rPr>
                        <a:t>• 경로가 아니라 현재 위치 기준 — 길을 바꿔도 목적지가 바뀌어도 그대로 작동. 내비와 경쟁하지 않고 티맵 위에서 함께 돈다(핸드오프)</a:t>
                      </a:r>
                    </a:p>
                    <a:p>
                      <a:pPr algn="l"/>
                      <a:r>
                        <a:rPr sz="1150">
                          <a:solidFill>
                            <a:srgbClr val="1F2326"/>
                          </a:solidFill>
                        </a:rPr>
                        <a:t>• 시간에 걸린 발견 — 장날·일몰·마감 임박을 관광정보에 겹쳐 "지금 아니면 없는 것"을 우선한다 (관광공사 + 천문연 + 전통시장 데이터 결합)</a:t>
                      </a:r>
                    </a:p>
                    <a:p>
                      <a:pPr algn="l"/>
                      <a:r>
                        <a:rPr sz="1150">
                          <a:solidFill>
                            <a:srgbClr val="1F2326"/>
                          </a:solidFill>
                        </a:rPr>
                        <a:t>• 신뢰는 데이터 완성도로 — 별점·후기 없이 영업정보·사진이 확인된 곳만. 큐레이션은 연관 관광지 두 시점의 변화율(이동 흔적)이 우선, 변화를 못 재는 곳만 순위로 보조</a:t>
                      </a:r>
                    </a:p>
                    <a:p>
                      <a:pPr algn="l"/>
                      <a:r>
                        <a:rPr sz="1150">
                          <a:solidFill>
                            <a:srgbClr val="1F2326"/>
                          </a:solidFill>
                        </a:rPr>
                        <a:t>• 운전 중 안전 — 전면 카드 한 장·원형 버튼 3개·음성 우선·재촉 없음(카운트다운·"빨리 결정" 없음)</a:t>
                      </a:r>
                    </a:p>
                    <a:p>
                      <a:pPr algn="l"/>
                      <a:r>
                        <a:rPr sz="1150">
                          <a:solidFill>
                            <a:srgbClr val="1F2326"/>
                          </a:solidFill>
                        </a:rPr>
                        <a:t>• 계정·광고·추적 없음. 정확한 GPS 좌표는 기기를 떠나지 않는다(서버엔 0.01° 격자만) · 실제 출시(App Store), 전국 스팟 19,957건, 국도 51선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26082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발전계획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50">
                          <a:solidFill>
                            <a:srgbClr val="1F2326"/>
                          </a:solidFill>
                        </a:rPr>
                        <a:t>• 코스 자동 생성 — 노선을 구간으로 잘라 코스를 만든다 (지금은 7번 국도 등 손 큐레이션)</a:t>
                      </a:r>
                    </a:p>
                    <a:p>
                      <a:pPr algn="l"/>
                      <a:r>
                        <a:rPr sz="1150">
                          <a:solidFill>
                            <a:srgbClr val="1F2326"/>
                          </a:solidFill>
                        </a:rPr>
                        <a:t>• 연관 관광지 두 시점 축적 → 변화율 큐레이션(「요즘 이 길에 발길이 늘었어요」)이 전국 노선으로 수렴</a:t>
                      </a:r>
                    </a:p>
                    <a:p>
                      <a:pPr algn="l"/>
                      <a:r>
                        <a:rPr sz="1150">
                          <a:solidFill>
                            <a:srgbClr val="1F2326"/>
                          </a:solidFill>
                        </a:rPr>
                        <a:t>• 기간 한정 발견 확대 — 축제·행사(관광공사 행사정보)·계절(단풍·벚꽃)·야간 개장</a:t>
                      </a:r>
                    </a:p>
                    <a:p>
                      <a:pPr algn="l"/>
                      <a:r>
                        <a:rPr sz="1150">
                          <a:solidFill>
                            <a:srgbClr val="1F2326"/>
                          </a:solidFill>
                        </a:rPr>
                        <a:t>• 여행기 백업(계정 없이 iCloud) · 공유 포스터 고도화 · 지역별 국도 수집 뱃지</a:t>
                      </a:r>
                    </a:p>
                    <a:p>
                      <a:pPr algn="l"/>
                      <a:r>
                        <a:rPr sz="1150">
                          <a:solidFill>
                            <a:srgbClr val="1F2326"/>
                          </a:solidFill>
                        </a:rPr>
                        <a:t>• 지자체·관광공사와 국도 단위 큐레이션 협업, 전통시장·장날 정보 갱신 자동화</a:t>
                      </a:r>
                    </a:p>
                    <a:p>
                      <a:pPr algn="l"/>
                      <a:r>
                        <a:rPr sz="1150">
                          <a:solidFill>
                            <a:srgbClr val="1F2326"/>
                          </a:solidFill>
                        </a:rPr>
                        <a:t>• Android 포팅 (코드 분기 유지 중) · 웹 미리보기(길 고르기까지)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568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1933326"/>
          <a:ext cx="11426308" cy="4605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흐름도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806208"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>
                          <a:solidFill>
                            <a:srgbClr val="1F2326"/>
                          </a:solidFill>
                        </a:rPr>
                        <a:t/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>
                          <a:solidFill>
                            <a:srgbClr val="1F2326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>
                          <a:solidFill>
                            <a:srgbClr val="1F2326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>
                          <a:solidFill>
                            <a:srgbClr val="1F2326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>
                          <a:solidFill>
                            <a:srgbClr val="1F2326"/>
                          </a:solidFill>
                        </a:rPr>
                        <a:t>① 레이더: 내 위치 기준 앞쪽 스팟(유형색 점). 경로를 따라가지 않아 길을 바꿔도 그대로 작동</a:t>
                      </a:r>
                      <a:endParaRPr lang="en-US" altLang="ko-KR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1"/>
                      <a:r>
                        <a:rPr sz="1050">
                          <a:solidFill>
                            <a:srgbClr val="1F2326"/>
                          </a:solidFill>
                        </a:rPr>
                        <a:t>② 발견 카드: 「오늘이 마침 북평민속오일장이에요 · 여기서 약 1.2km」 + 넘기기 / 들르기 / 찜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1"/>
                      <a:r>
                        <a:rPr sz="1050">
                          <a:solidFill>
                            <a:srgbClr val="1F2326"/>
                          </a:solidFill>
                        </a:rPr>
                        <a:t>③ 상세: 관광공사 사진·개요·영업정보. 별점 없이 「네이버 후기 보기」 링크만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1"/>
                      <a:r>
                        <a:rPr sz="1050">
                          <a:solidFill>
                            <a:srgbClr val="1F2326"/>
                          </a:solidFill>
                        </a:rPr>
                        <a:t>④ 「들르기」를 누르면 티맵으로 목적지가 바뀌고, 레이더 아래 「오늘 들른 곳」 자취에 사진으로 남는다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400" b="1">
                          <a:solidFill>
                            <a:srgbClr val="1F2326"/>
                          </a:solidFill>
                        </a:rPr>
                        <a:t>핵심 기능2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1" algn="l"/>
                      <a:r>
                        <a:rPr sz="1400" b="1">
                          <a:solidFill>
                            <a:srgbClr val="1F2326"/>
                          </a:solidFill>
                        </a:rPr>
                        <a:t>발견 레이더 · 전면 카드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기능 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50">
                          <a:solidFill>
                            <a:srgbClr val="1F2326"/>
                          </a:solidFill>
                        </a:rPr>
                        <a:t>현재 위치와 진행 방향 반경 5km에서 영업정보·사진이 확인된 스팟만 골라 카드 한 장으로 알린다. 장날·일몰·마감 임박이 우선이다.</a:t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  <p:pic>
        <p:nvPicPr>
          <p:cNvPr id="16" name="Picture 15" descr="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28" y="2333623"/>
            <a:ext cx="1224223" cy="2659904"/>
          </a:xfrm>
          <a:prstGeom prst="rect">
            <a:avLst/>
          </a:prstGeom>
        </p:spPr>
      </p:pic>
      <p:pic>
        <p:nvPicPr>
          <p:cNvPr id="17" name="Picture 16" descr="home_expa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705" y="2333623"/>
            <a:ext cx="1224223" cy="2659904"/>
          </a:xfrm>
          <a:prstGeom prst="rect">
            <a:avLst/>
          </a:prstGeom>
        </p:spPr>
      </p:pic>
      <p:pic>
        <p:nvPicPr>
          <p:cNvPr id="18" name="Picture 17" descr="2_dep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282" y="2333623"/>
            <a:ext cx="1224223" cy="2659904"/>
          </a:xfrm>
          <a:prstGeom prst="rect">
            <a:avLst/>
          </a:prstGeom>
        </p:spPr>
      </p:pic>
      <p:pic>
        <p:nvPicPr>
          <p:cNvPr id="19" name="Picture 18" descr="4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28" y="2333623"/>
            <a:ext cx="1224223" cy="2659904"/>
          </a:xfrm>
          <a:prstGeom prst="rect">
            <a:avLst/>
          </a:prstGeom>
        </p:spPr>
      </p:pic>
      <p:pic>
        <p:nvPicPr>
          <p:cNvPr id="20" name="Picture 19" descr="3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705" y="2333623"/>
            <a:ext cx="1224223" cy="2659904"/>
          </a:xfrm>
          <a:prstGeom prst="rect">
            <a:avLst/>
          </a:prstGeom>
        </p:spPr>
      </p:pic>
      <p:pic>
        <p:nvPicPr>
          <p:cNvPr id="21" name="Picture 20" descr="5_sp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282" y="2333623"/>
            <a:ext cx="1224223" cy="2659904"/>
          </a:xfrm>
          <a:prstGeom prst="rect">
            <a:avLst/>
          </a:prstGeom>
        </p:spPr>
      </p:pic>
      <p:pic>
        <p:nvPicPr>
          <p:cNvPr id="22" name="Picture 21" descr="radar-t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8859" y="2333623"/>
            <a:ext cx="1224223" cy="26599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1933326"/>
          <a:ext cx="11426308" cy="4605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흐름도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806208"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>
                          <a:solidFill>
                            <a:srgbClr val="1F2326"/>
                          </a:solidFill>
                        </a:rPr>
                        <a:t/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>
                          <a:solidFill>
                            <a:srgbClr val="1F2326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>
                          <a:solidFill>
                            <a:srgbClr val="1F2326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>
                          <a:solidFill>
                            <a:srgbClr val="1F2326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>
                          <a:solidFill>
                            <a:srgbClr val="1F2326"/>
                          </a:solidFill>
                        </a:rPr>
                        <a:t>① 들른 뒤 차가 2분 서 있으면 「여기서 앞쪽으로」가 저절로 열린다</a:t>
                      </a:r>
                      <a:endParaRPr lang="en-US" altLang="ko-KR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1"/>
                      <a:r>
                        <a:rPr sz="1050">
                          <a:solidFill>
                            <a:srgbClr val="1F2326"/>
                          </a:solidFill>
                        </a:rPr>
                        <a:t>② 앞쪽 10km 안 후보 3곳 + 「그냥 7번 국도로 돌아가기」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1"/>
                      <a:r>
                        <a:rPr sz="1050">
                          <a:solidFill>
                            <a:srgbClr val="1F2326"/>
                          </a:solidFill>
                        </a:rPr>
                        <a:t>③ 상단 뱃지를 누르면 「길을 바꿀까요?」 — 여기서 탈 수 있는 다른 국도로 갈아탄다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1"/>
                      <a:r>
                        <a:rPr sz="1050">
                          <a:solidFill>
                            <a:srgbClr val="1F2326"/>
                          </a:solidFill>
                        </a:rPr>
                        <a:t>④ 여행은 하루 하나, 국도는 구간으로 이어진다 (43 → 6번 국도). 거리·들른 곳이 그대로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400" b="1">
                          <a:solidFill>
                            <a:srgbClr val="1F2326"/>
                          </a:solidFill>
                        </a:rPr>
                        <a:t>핵심 기능3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1" algn="l"/>
                      <a:r>
                        <a:rPr sz="1400" b="1">
                          <a:solidFill>
                            <a:srgbClr val="1F2326"/>
                          </a:solidFill>
                        </a:rPr>
                        <a:t>들른 뒤 이어가기 · 길 바꾸기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기능 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50">
                          <a:solidFill>
                            <a:srgbClr val="1F2326"/>
                          </a:solidFill>
                        </a:rPr>
                        <a:t>밥을 먹고 나서 다음 행선지를 고르는 순간을 받친다. 정차 2분이면 앞쪽 10km 후보를 펼치고, 다른 국도로 갈아타도 하루의 기록은 이어진다.</a:t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  <p:pic>
        <p:nvPicPr>
          <p:cNvPr id="16" name="Picture 15" descr="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28" y="2333623"/>
            <a:ext cx="1224223" cy="2659904"/>
          </a:xfrm>
          <a:prstGeom prst="rect">
            <a:avLst/>
          </a:prstGeom>
        </p:spPr>
      </p:pic>
      <p:pic>
        <p:nvPicPr>
          <p:cNvPr id="17" name="Picture 16" descr="home_expa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705" y="2333623"/>
            <a:ext cx="1224223" cy="2659904"/>
          </a:xfrm>
          <a:prstGeom prst="rect">
            <a:avLst/>
          </a:prstGeom>
        </p:spPr>
      </p:pic>
      <p:pic>
        <p:nvPicPr>
          <p:cNvPr id="18" name="Picture 17" descr="2_dep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282" y="2333623"/>
            <a:ext cx="1224223" cy="2659904"/>
          </a:xfrm>
          <a:prstGeom prst="rect">
            <a:avLst/>
          </a:prstGeom>
        </p:spPr>
      </p:pic>
      <p:pic>
        <p:nvPicPr>
          <p:cNvPr id="19" name="Picture 18" descr="next2-t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28" y="2333623"/>
            <a:ext cx="1224223" cy="2659904"/>
          </a:xfrm>
          <a:prstGeom prst="rect">
            <a:avLst/>
          </a:prstGeom>
        </p:spPr>
      </p:pic>
      <p:pic>
        <p:nvPicPr>
          <p:cNvPr id="20" name="Picture 19" descr="next2-t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705" y="2333623"/>
            <a:ext cx="1224223" cy="2659904"/>
          </a:xfrm>
          <a:prstGeom prst="rect">
            <a:avLst/>
          </a:prstGeom>
        </p:spPr>
      </p:pic>
      <p:pic>
        <p:nvPicPr>
          <p:cNvPr id="21" name="Picture 20" descr="switch-t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282" y="2333623"/>
            <a:ext cx="1224223" cy="2659904"/>
          </a:xfrm>
          <a:prstGeom prst="rect">
            <a:avLst/>
          </a:prstGeom>
        </p:spPr>
      </p:pic>
      <p:pic>
        <p:nvPicPr>
          <p:cNvPr id="22" name="Picture 21" descr="4_ra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8859" y="2333623"/>
            <a:ext cx="1224223" cy="26599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1933326"/>
          <a:ext cx="11426308" cy="4605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흐름도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806208"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>
                          <a:solidFill>
                            <a:srgbClr val="1F2326"/>
                          </a:solidFill>
                        </a:rPr>
                        <a:t/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>
                          <a:solidFill>
                            <a:srgbClr val="1F2326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>
                          <a:solidFill>
                            <a:srgbClr val="1F2326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>
                          <a:solidFill>
                            <a:srgbClr val="1F2326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>
                          <a:solidFill>
                            <a:srgbClr val="1F2326"/>
                          </a:solidFill>
                        </a:rPr>
                        <a:t>① 「EP.6 — 43번 국도에서 생긴 일」: 실제 GPS 선 포스터 + 들른 곳 타임라인</a:t>
                      </a:r>
                      <a:endParaRPr lang="en-US" altLang="ko-KR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1"/>
                      <a:r>
                        <a:rPr sz="1050">
                          <a:solidFill>
                            <a:srgbClr val="1F2326"/>
                          </a:solidFill>
                        </a:rPr>
                        <a:t>② 공유 카드: 지도·들른 곳 번호 목록·「들른 발견 N」. 시작·끝 300m는 자동으로 잘린다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1"/>
                      <a:r>
                        <a:rPr sz="1050">
                          <a:solidFill>
                            <a:srgbClr val="1F2326"/>
                          </a:solidFill>
                        </a:rPr>
                        <a:t>③ 마이: 여행기 목록·찜·국도 51선 수집 진행률·설정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1"/>
                      <a:r>
                        <a:rPr sz="1050">
                          <a:solidFill>
                            <a:srgbClr val="1F2326"/>
                          </a:solidFill>
                        </a:rPr>
                        <a:t>④ 레이더 「오늘 여행 마치기」 한 번으로 하루가 닫힌다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400" b="1">
                          <a:solidFill>
                            <a:srgbClr val="1F2326"/>
                          </a:solidFill>
                        </a:rPr>
                        <a:t>핵심 기능4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1" algn="l"/>
                      <a:r>
                        <a:rPr sz="1400" b="1">
                          <a:solidFill>
                            <a:srgbClr val="1F2326"/>
                          </a:solidFill>
                        </a:rPr>
                        <a:t>여행기 · 공유 포스터 · 국도 51선 수집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기능 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50">
                          <a:solidFill>
                            <a:srgbClr val="1F2326"/>
                          </a:solidFill>
                        </a:rPr>
                        <a:t>「오늘 여행 마치기」를 누르면 지나온 길과 들른 곳이 한 편의 여행기가 된다. 포스터 한 장으로 공유하고, 지나온 국도가 51선 중 몇 선째인지 쌓인다.</a:t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  <p:pic>
        <p:nvPicPr>
          <p:cNvPr id="16" name="Picture 15" descr="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28" y="2333623"/>
            <a:ext cx="1224223" cy="2659904"/>
          </a:xfrm>
          <a:prstGeom prst="rect">
            <a:avLst/>
          </a:prstGeom>
        </p:spPr>
      </p:pic>
      <p:pic>
        <p:nvPicPr>
          <p:cNvPr id="17" name="Picture 16" descr="home_expa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705" y="2333623"/>
            <a:ext cx="1224223" cy="2659904"/>
          </a:xfrm>
          <a:prstGeom prst="rect">
            <a:avLst/>
          </a:prstGeom>
        </p:spPr>
      </p:pic>
      <p:pic>
        <p:nvPicPr>
          <p:cNvPr id="18" name="Picture 17" descr="2_dep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282" y="2333623"/>
            <a:ext cx="1224223" cy="2659904"/>
          </a:xfrm>
          <a:prstGeom prst="rect">
            <a:avLst/>
          </a:prstGeom>
        </p:spPr>
      </p:pic>
      <p:pic>
        <p:nvPicPr>
          <p:cNvPr id="19" name="Picture 18" descr="trip-t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28" y="2333623"/>
            <a:ext cx="1224223" cy="2659904"/>
          </a:xfrm>
          <a:prstGeom prst="rect">
            <a:avLst/>
          </a:prstGeom>
        </p:spPr>
      </p:pic>
      <p:pic>
        <p:nvPicPr>
          <p:cNvPr id="20" name="Picture 19" descr="share_card_8sto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2614" y="2333623"/>
            <a:ext cx="1810405" cy="2659904"/>
          </a:xfrm>
          <a:prstGeom prst="rect">
            <a:avLst/>
          </a:prstGeom>
        </p:spPr>
      </p:pic>
      <p:pic>
        <p:nvPicPr>
          <p:cNvPr id="21" name="Picture 20" descr="my-t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282" y="2333623"/>
            <a:ext cx="1224223" cy="2659904"/>
          </a:xfrm>
          <a:prstGeom prst="rect">
            <a:avLst/>
          </a:prstGeom>
        </p:spPr>
      </p:pic>
      <p:pic>
        <p:nvPicPr>
          <p:cNvPr id="22" name="Picture 21" descr="4_ra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8859" y="2333623"/>
            <a:ext cx="1224223" cy="26599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1933326"/>
          <a:ext cx="11426308" cy="4605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흐름도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806208"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>
                          <a:solidFill>
                            <a:srgbClr val="1F2326"/>
                          </a:solidFill>
                        </a:rPr>
                        <a:t/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>
                          <a:solidFill>
                            <a:srgbClr val="1F2326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>
                          <a:solidFill>
                            <a:srgbClr val="1F2326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>
                          <a:solidFill>
                            <a:srgbClr val="1F2326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>
                          <a:solidFill>
                            <a:srgbClr val="1F2326"/>
                          </a:solidFill>
                        </a:rPr>
                        <a:t>① 온보딩 마지막 장: 「앞쪽에 뭐가 있는지, 카드 한 장으로」 — 「내비를 켜둔 채여도 소리로 먼저」 「놓쳐도 알림에 남아요」</a:t>
                      </a:r>
                      <a:endParaRPr lang="en-US" altLang="ko-KR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1"/>
                      <a:r>
                        <a:rPr sz="1050">
                          <a:solidFill>
                            <a:srgbClr val="1F2326"/>
                          </a:solidFill>
                        </a:rPr>
                        <a:t>② 카드 문장을 그대로 읽어준다. 내비 음성을 끊지 않고 잠깐 낮췄다 되돌린다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1"/>
                      <a:r>
                        <a:rPr sz="1050">
                          <a:solidFill>
                            <a:srgbClr val="1F2326"/>
                          </a:solidFill>
                        </a:rPr>
                        <a:t>③ 설정: 「앱을 꺼둬도 알림」(백그라운드 위치는 옵트인) · 「발견 간격」 자주·보통·가끔 · 데이터 출처. 낭독은 레이더의 스피커 버튼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1"/>
                      <a:r>
                        <a:rPr sz="1050">
                          <a:solidFill>
                            <a:srgbClr val="1F2326"/>
                          </a:solidFill>
                        </a:rPr>
                        <a:t>④ 알림을 누르면 그 발견의 상세로 바로 열린다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400" b="1">
                          <a:solidFill>
                            <a:srgbClr val="1F2326"/>
                          </a:solidFill>
                        </a:rPr>
                        <a:t>핵심 기능5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1" algn="l"/>
                      <a:r>
                        <a:rPr sz="1400" b="1">
                          <a:solidFill>
                            <a:srgbClr val="1F2326"/>
                          </a:solidFill>
                        </a:rPr>
                        <a:t>소리 · 알림 · 설정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기능 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50">
                          <a:solidFill>
                            <a:srgbClr val="1F2326"/>
                          </a:solidFill>
                        </a:rPr>
                        <a:t>운전 중엔 화면을 볼 수 없다. 카드는 소리로 먼저 나가고, 놓치면 알림에 남는다. 위치는 출발할 때, 알림은 처음 달린 뒤에 묻는다.</a:t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  <p:pic>
        <p:nvPicPr>
          <p:cNvPr id="16" name="Picture 15" descr="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28" y="2333623"/>
            <a:ext cx="1224223" cy="2659904"/>
          </a:xfrm>
          <a:prstGeom prst="rect">
            <a:avLst/>
          </a:prstGeom>
        </p:spPr>
      </p:pic>
      <p:pic>
        <p:nvPicPr>
          <p:cNvPr id="17" name="Picture 16" descr="home_expa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705" y="2333623"/>
            <a:ext cx="1224223" cy="2659904"/>
          </a:xfrm>
          <a:prstGeom prst="rect">
            <a:avLst/>
          </a:prstGeom>
        </p:spPr>
      </p:pic>
      <p:pic>
        <p:nvPicPr>
          <p:cNvPr id="18" name="Picture 17" descr="2_dep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282" y="2333623"/>
            <a:ext cx="1224223" cy="2659904"/>
          </a:xfrm>
          <a:prstGeom prst="rect">
            <a:avLst/>
          </a:prstGeom>
        </p:spPr>
      </p:pic>
      <p:pic>
        <p:nvPicPr>
          <p:cNvPr id="19" name="Picture 18" descr="onboard3-t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28" y="2333623"/>
            <a:ext cx="1224223" cy="2659904"/>
          </a:xfrm>
          <a:prstGeom prst="rect">
            <a:avLst/>
          </a:prstGeom>
        </p:spPr>
      </p:pic>
      <p:pic>
        <p:nvPicPr>
          <p:cNvPr id="20" name="Picture 19" descr="3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705" y="2333623"/>
            <a:ext cx="1224223" cy="2659904"/>
          </a:xfrm>
          <a:prstGeom prst="rect">
            <a:avLst/>
          </a:prstGeom>
        </p:spPr>
      </p:pic>
      <p:pic>
        <p:nvPicPr>
          <p:cNvPr id="21" name="Picture 20" descr="myset2-t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282" y="2333623"/>
            <a:ext cx="1224223" cy="2659904"/>
          </a:xfrm>
          <a:prstGeom prst="rect">
            <a:avLst/>
          </a:prstGeom>
        </p:spPr>
      </p:pic>
      <p:pic>
        <p:nvPicPr>
          <p:cNvPr id="22" name="Picture 21" descr="5_sp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8859" y="2333623"/>
            <a:ext cx="1224223" cy="26599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549</Words>
  <Application>Microsoft Office PowerPoint</Application>
  <PresentationFormat>와이드스크린</PresentationFormat>
  <Paragraphs>95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Noto Sans KR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KTO</dc:creator>
  <cp:lastModifiedBy>USER</cp:lastModifiedBy>
  <cp:revision>64</cp:revision>
  <dcterms:created xsi:type="dcterms:W3CDTF">2026-07-07T05:25:59Z</dcterms:created>
  <dcterms:modified xsi:type="dcterms:W3CDTF">2026-07-29T05:45:18Z</dcterms:modified>
</cp:coreProperties>
</file>