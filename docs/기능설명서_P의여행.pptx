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11"/>
  </p:notesMasterIdLst>
  <p:sldIdLst>
    <p:sldId id="259" r:id="rId2"/>
    <p:sldId id="258" r:id="rId3"/>
    <p:sldId id="267" r:id="rId4"/>
    <p:sldId id="268" r:id="rId5"/>
    <p:sldId id="260" r:id="rId7"/>
    <p:sldId id="269" r:id="rId16"/>
    <p:sldId id="270" r:id="rId17"/>
    <p:sldId id="271" r:id="rId18"/>
    <p:sldId id="272" r:id="rId19"/>
    <p:sldId id="264" r:id="rId8"/>
    <p:sldId id="265" r:id="rId9"/>
    <p:sldId id="266" r:id="rId10"/>
  </p:sldIdLst>
  <p:sldSz cx="12192000" cy="6858000"/>
  <p:notesSz cx="6858000" cy="9144000"/>
  <p:defaultTextStyle>
    <a:defPPr>
      <a:defRPr lang="ko-KR"/>
    </a:defPPr>
    <a:lvl1pPr marL="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0000FF"/>
    <a:srgbClr val="FF6F00"/>
    <a:srgbClr val="FFA401"/>
    <a:srgbClr val="FFFDE7"/>
    <a:srgbClr val="FFFF99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보통 스타일 2 - 강조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5987" autoAdjust="0"/>
    <p:restoredTop sz="94660"/>
  </p:normalViewPr>
  <p:slideViewPr>
    <p:cSldViewPr snapToGrid="0">
      <p:cViewPr>
        <p:scale>
          <a:sx n="100" d="100"/>
          <a:sy n="100" d="100"/>
        </p:scale>
        <p:origin x="936" y="39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notesMaster" Target="notesMasters/notesMaster1.xml"/><Relationship Id="rId12" Type="http://schemas.openxmlformats.org/officeDocument/2006/relationships/presProps" Target="presProps.xml"/><Relationship Id="rId13" Type="http://schemas.openxmlformats.org/officeDocument/2006/relationships/viewProps" Target="viewProps.xml"/><Relationship Id="rId14" Type="http://schemas.openxmlformats.org/officeDocument/2006/relationships/theme" Target="theme/theme1.xml"/><Relationship Id="rId15" Type="http://schemas.openxmlformats.org/officeDocument/2006/relationships/tableStyles" Target="tableStyles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머리글 개체 틀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3" name="날짜 개체 틀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FB3549DB-4EF3-40B0-A785-8572249070D6}" type="datetimeFigureOut">
              <a:rPr lang="ko-KR" altLang="en-US" smtClean="0"/>
              <a:t>2026-07-29</a:t>
            </a:fld>
            <a:endParaRPr lang="ko-KR" altLang="en-US"/>
          </a:p>
        </p:txBody>
      </p:sp>
      <p:sp>
        <p:nvSpPr>
          <p:cNvPr id="4" name="슬라이드 이미지 개체 틀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ko-KR" altLang="en-US"/>
          </a:p>
        </p:txBody>
      </p:sp>
      <p:sp>
        <p:nvSpPr>
          <p:cNvPr id="5" name="슬라이드 노트 개체 틀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ko-KR" altLang="en-US" smtClean="0"/>
              <a:t>마스터 텍스트 스타일 편집</a:t>
            </a:r>
          </a:p>
          <a:p>
            <a:pPr lvl="1"/>
            <a:r>
              <a:rPr lang="ko-KR" altLang="en-US" smtClean="0"/>
              <a:t>둘째 수준</a:t>
            </a:r>
          </a:p>
          <a:p>
            <a:pPr lvl="2"/>
            <a:r>
              <a:rPr lang="ko-KR" altLang="en-US" smtClean="0"/>
              <a:t>셋째 수준</a:t>
            </a:r>
          </a:p>
          <a:p>
            <a:pPr lvl="3"/>
            <a:r>
              <a:rPr lang="ko-KR" altLang="en-US" smtClean="0"/>
              <a:t>넷째 수준</a:t>
            </a:r>
          </a:p>
          <a:p>
            <a:pPr lvl="4"/>
            <a:r>
              <a:rPr lang="ko-KR" altLang="en-US" smtClean="0"/>
              <a:t>다섯째 수준</a:t>
            </a:r>
            <a:endParaRPr lang="ko-KR" altLang="en-US"/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FE4097B3-0D7D-4E86-933F-EBF9BA5F97E0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93217217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.png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4.png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5.png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6.png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7.png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표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그림 1"/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57105540"/>
      </p:ext>
    </p:extLst>
  </p:cSld>
  <p:clrMapOvr>
    <a:masterClrMapping/>
  </p:clrMapOvr>
  <p:timing>
    <p:tnLst>
      <p:par>
        <p:cTn id="1" dur="indefinite" restart="never" nodeType="tmRoot"/>
      </p:par>
    </p:tnLst>
  </p:timing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서비스 소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그림 4"/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799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36223215"/>
      </p:ext>
    </p:extLst>
  </p:cSld>
  <p:clrMapOvr>
    <a:masterClrMapping/>
  </p:clrMapOvr>
  <p:timing>
    <p:tnLst>
      <p:par>
        <p:cTn id="1" dur="indefinite" restart="never" nodeType="tmRoot"/>
      </p:par>
    </p:tnLst>
  </p:timing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지역 특화 서비스 구현 세부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그림 4"/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4083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79998643"/>
      </p:ext>
    </p:extLst>
  </p:cSld>
  <p:clrMapOvr>
    <a:masterClrMapping/>
  </p:clrMapOvr>
  <p:timing>
    <p:tnLst>
      <p:par>
        <p:cTn id="1" dur="indefinite" restart="never" nodeType="tmRoot"/>
      </p:par>
    </p:tnLst>
  </p:timing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서비스 핵심 기능별 흐름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그림 4"/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13438" y="18574"/>
            <a:ext cx="12165123" cy="683942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39664904"/>
      </p:ext>
    </p:extLst>
  </p:cSld>
  <p:clrMapOvr>
    <a:masterClrMapping/>
  </p:clrMapOvr>
  <p:timing>
    <p:tnLst>
      <p:par>
        <p:cTn id="1" dur="indefinite" restart="never" nodeType="tmRoot"/>
      </p:par>
    </p:tnLst>
  </p:timing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데이터 활용(한국관광공사 OpenAPI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그림 4"/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3912" y="13811"/>
            <a:ext cx="12184175" cy="683037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561228989"/>
      </p:ext>
    </p:extLst>
  </p:cSld>
  <p:clrMapOvr>
    <a:masterClrMapping/>
  </p:clrMapOvr>
  <p:timing>
    <p:tnLst>
      <p:par>
        <p:cTn id="1" dur="indefinite" restart="never" nodeType="tmRoot"/>
      </p:par>
    </p:tnLst>
  </p:timing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데이터 활용(기타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그림 4"/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8675" y="9047"/>
            <a:ext cx="12174649" cy="683990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09833825"/>
      </p:ext>
    </p:extLst>
  </p:cSld>
  <p:clrMapOvr>
    <a:masterClrMapping/>
  </p:clrMapOvr>
  <p:timing>
    <p:tnLst>
      <p:par>
        <p:cTn id="1" dur="indefinite" restart="never" nodeType="tmRoot"/>
      </p:par>
    </p:tnLst>
  </p:timing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서비스 차별성&amp;발전계획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그림 4"/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3912" y="4284"/>
            <a:ext cx="12184175" cy="684943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59249390"/>
      </p:ext>
    </p:extLst>
  </p:cSld>
  <p:clrMapOvr>
    <a:masterClrMapping/>
  </p:clrMapOvr>
  <p:timing>
    <p:tnLst>
      <p:par>
        <p:cTn id="1" dur="indefinite" restart="never" nodeType="tmRoot"/>
      </p:par>
    </p:tnLst>
  </p:timing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빈 화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날짜 개체 틀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A38FB6A-844E-4645-B6B8-D2945F9927BB}" type="datetimeFigureOut">
              <a:rPr lang="ko-KR" altLang="en-US" smtClean="0"/>
              <a:t>2026-07-29</a:t>
            </a:fld>
            <a:endParaRPr lang="ko-KR" altLang="en-US"/>
          </a:p>
        </p:txBody>
      </p:sp>
      <p:sp>
        <p:nvSpPr>
          <p:cNvPr id="3" name="바닥글 개체 틀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8832701-68F9-4777-ABB9-C14E97591467}" type="slidenum">
              <a:rPr lang="ko-KR" altLang="en-US" smtClean="0"/>
              <a:t>‹#›</a:t>
            </a:fld>
            <a:endParaRPr lang="ko-KR" altLang="en-US"/>
          </a:p>
        </p:txBody>
      </p:sp>
      <p:grpSp>
        <p:nvGrpSpPr>
          <p:cNvPr id="14" name="그룹 13"/>
          <p:cNvGrpSpPr/>
          <p:nvPr userDrawn="1"/>
        </p:nvGrpSpPr>
        <p:grpSpPr>
          <a:xfrm>
            <a:off x="189807" y="256797"/>
            <a:ext cx="11812386" cy="580915"/>
            <a:chOff x="189807" y="256797"/>
            <a:chExt cx="11812386" cy="580915"/>
          </a:xfrm>
        </p:grpSpPr>
        <p:grpSp>
          <p:nvGrpSpPr>
            <p:cNvPr id="10" name="그룹 9"/>
            <p:cNvGrpSpPr/>
            <p:nvPr/>
          </p:nvGrpSpPr>
          <p:grpSpPr>
            <a:xfrm>
              <a:off x="8161715" y="256797"/>
              <a:ext cx="3840478" cy="340519"/>
              <a:chOff x="6733312" y="182882"/>
              <a:chExt cx="3840478" cy="340519"/>
            </a:xfrm>
          </p:grpSpPr>
          <p:sp>
            <p:nvSpPr>
              <p:cNvPr id="12" name="TextBox 11"/>
              <p:cNvSpPr txBox="1"/>
              <p:nvPr/>
            </p:nvSpPr>
            <p:spPr>
              <a:xfrm>
                <a:off x="6733312" y="182882"/>
                <a:ext cx="2419001" cy="340519"/>
              </a:xfrm>
              <a:prstGeom prst="roundRect">
                <a:avLst/>
              </a:prstGeom>
              <a:solidFill>
                <a:srgbClr val="FF6F00"/>
              </a:solidFill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altLang="ko-KR" sz="1400" dirty="0" smtClean="0">
                    <a:solidFill>
                      <a:schemeClr val="bg1"/>
                    </a:solidFill>
                    <a:latin typeface="Noto Sans KR Medium" panose="020B0600000000000000" pitchFamily="34" charset="-127"/>
                    <a:ea typeface="Noto Sans KR Medium" panose="020B0600000000000000" pitchFamily="34" charset="-127"/>
                  </a:rPr>
                  <a:t>2026 </a:t>
                </a:r>
                <a:r>
                  <a:rPr lang="ko-KR" altLang="en-US" sz="1400" dirty="0" smtClean="0">
                    <a:solidFill>
                      <a:schemeClr val="bg1"/>
                    </a:solidFill>
                    <a:latin typeface="Noto Sans KR Medium" panose="020B0600000000000000" pitchFamily="34" charset="-127"/>
                    <a:ea typeface="Noto Sans KR Medium" panose="020B0600000000000000" pitchFamily="34" charset="-127"/>
                  </a:rPr>
                  <a:t>관광데이터 활용 공모전</a:t>
                </a:r>
                <a:endParaRPr lang="ko-KR" altLang="en-US" sz="1400" dirty="0">
                  <a:solidFill>
                    <a:schemeClr val="bg1"/>
                  </a:solidFill>
                  <a:latin typeface="Noto Sans KR Medium" panose="020B0600000000000000" pitchFamily="34" charset="-127"/>
                  <a:ea typeface="Noto Sans KR Medium" panose="020B0600000000000000" pitchFamily="34" charset="-127"/>
                </a:endParaRPr>
              </a:p>
            </p:txBody>
          </p:sp>
          <p:sp>
            <p:nvSpPr>
              <p:cNvPr id="13" name="TextBox 12"/>
              <p:cNvSpPr txBox="1"/>
              <p:nvPr/>
            </p:nvSpPr>
            <p:spPr>
              <a:xfrm>
                <a:off x="9246526" y="182882"/>
                <a:ext cx="1327264" cy="340519"/>
              </a:xfrm>
              <a:prstGeom prst="roundRect">
                <a:avLst/>
              </a:prstGeom>
              <a:solidFill>
                <a:srgbClr val="FFFDE7"/>
              </a:solidFill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ko-KR" altLang="en-US" sz="1400" dirty="0" smtClean="0">
                    <a:latin typeface="Noto Sans KR Medium" panose="020B0600000000000000" pitchFamily="34" charset="-127"/>
                    <a:ea typeface="Noto Sans KR Medium" panose="020B0600000000000000" pitchFamily="34" charset="-127"/>
                  </a:rPr>
                  <a:t>웹〮앱 개발 부문</a:t>
                </a:r>
                <a:endParaRPr lang="ko-KR" altLang="en-US" sz="1400" dirty="0">
                  <a:latin typeface="Noto Sans KR Medium" panose="020B0600000000000000" pitchFamily="34" charset="-127"/>
                  <a:ea typeface="Noto Sans KR Medium" panose="020B0600000000000000" pitchFamily="34" charset="-127"/>
                </a:endParaRPr>
              </a:p>
            </p:txBody>
          </p:sp>
        </p:grpSp>
        <p:sp>
          <p:nvSpPr>
            <p:cNvPr id="11" name="직사각형 10"/>
            <p:cNvSpPr/>
            <p:nvPr/>
          </p:nvSpPr>
          <p:spPr>
            <a:xfrm>
              <a:off x="189807" y="791993"/>
              <a:ext cx="11812386" cy="45719"/>
            </a:xfrm>
            <a:prstGeom prst="rect">
              <a:avLst/>
            </a:prstGeom>
            <a:solidFill>
              <a:srgbClr val="FF6F0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</p:grpSp>
    </p:spTree>
    <p:extLst>
      <p:ext uri="{BB962C8B-B14F-4D97-AF65-F5344CB8AC3E}">
        <p14:creationId xmlns:p14="http://schemas.microsoft.com/office/powerpoint/2010/main" val="1393944891"/>
      </p:ext>
    </p:extLst>
  </p:cSld>
  <p:clrMapOvr>
    <a:masterClrMapping/>
  </p:clrMapOvr>
  <p:timing>
    <p:tnLst>
      <p:par>
        <p:cTn id="1" dur="indefinite" restart="never" nodeType="tmRoot"/>
      </p:par>
    </p:tnLst>
  </p:timing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개체 틀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ko-KR" altLang="en-US" smtClean="0"/>
              <a:t>마스터 제목 스타일 편집</a:t>
            </a:r>
            <a:endParaRPr lang="ko-KR" altLang="en-US"/>
          </a:p>
        </p:txBody>
      </p:sp>
      <p:sp>
        <p:nvSpPr>
          <p:cNvPr id="3" name="텍스트 개체 틀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ko-KR" altLang="en-US" smtClean="0"/>
              <a:t>마스터 텍스트 스타일 편집</a:t>
            </a:r>
          </a:p>
          <a:p>
            <a:pPr lvl="1"/>
            <a:r>
              <a:rPr lang="ko-KR" altLang="en-US" smtClean="0"/>
              <a:t>둘째 수준</a:t>
            </a:r>
          </a:p>
          <a:p>
            <a:pPr lvl="2"/>
            <a:r>
              <a:rPr lang="ko-KR" altLang="en-US" smtClean="0"/>
              <a:t>셋째 수준</a:t>
            </a:r>
          </a:p>
          <a:p>
            <a:pPr lvl="3"/>
            <a:r>
              <a:rPr lang="ko-KR" altLang="en-US" smtClean="0"/>
              <a:t>넷째 수준</a:t>
            </a:r>
          </a:p>
          <a:p>
            <a:pPr lvl="4"/>
            <a:r>
              <a:rPr lang="ko-KR" altLang="en-US" smtClean="0"/>
              <a:t>다섯째 수준</a:t>
            </a:r>
            <a:endParaRPr lang="ko-KR" altLang="en-US"/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4A38FB6A-844E-4645-B6B8-D2945F9927BB}" type="datetimeFigureOut">
              <a:rPr lang="ko-KR" altLang="en-US" smtClean="0"/>
              <a:t>2026-07-29</a:t>
            </a:fld>
            <a:endParaRPr lang="ko-KR" altLang="en-US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ko-KR" altLang="en-US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38832701-68F9-4777-ABB9-C14E97591467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217332544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5" r:id="rId2"/>
    <p:sldLayoutId id="2147483660" r:id="rId3"/>
    <p:sldLayoutId id="2147483661" r:id="rId4"/>
    <p:sldLayoutId id="2147483662" r:id="rId5"/>
    <p:sldLayoutId id="2147483663" r:id="rId6"/>
    <p:sldLayoutId id="2147483664" r:id="rId7"/>
    <p:sldLayoutId id="2147483665" r:id="rId8"/>
  </p:sldLayoutIdLst>
  <p:txStyles>
    <p:titleStyle>
      <a:lvl1pPr algn="l" defTabSz="914400" rtl="0" eaLnBrk="1" latinLnBrk="1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1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ko-KR"/>
      </a:defPPr>
      <a:lvl1pPr marL="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hyperlink" Target="https://apps.apple.com/kr/app/id6806749553" TargetMode="External"/><Relationship Id="rId3" Type="http://schemas.openxmlformats.org/officeDocument/2006/relationships/hyperlink" Target="https://youtu.be/q4jvO63vvQA" TargetMode="Externa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8.png"/><Relationship Id="rId3" Type="http://schemas.openxmlformats.org/officeDocument/2006/relationships/image" Target="../media/image9.png"/><Relationship Id="rId4" Type="http://schemas.openxmlformats.org/officeDocument/2006/relationships/image" Target="../media/image10.png"/><Relationship Id="rId5" Type="http://schemas.openxmlformats.org/officeDocument/2006/relationships/image" Target="../media/image11.png"/><Relationship Id="rId6" Type="http://schemas.openxmlformats.org/officeDocument/2006/relationships/image" Target="../media/image12.png"/><Relationship Id="rId7" Type="http://schemas.openxmlformats.org/officeDocument/2006/relationships/image" Target="../media/image13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image" Target="../media/image9.png"/><Relationship Id="rId3" Type="http://schemas.openxmlformats.org/officeDocument/2006/relationships/image" Target="../media/image14.png"/><Relationship Id="rId4" Type="http://schemas.openxmlformats.org/officeDocument/2006/relationships/image" Target="../media/image10.png"/><Relationship Id="rId5" Type="http://schemas.openxmlformats.org/officeDocument/2006/relationships/image" Target="../media/image15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image" Target="../media/image12.png"/><Relationship Id="rId3" Type="http://schemas.openxmlformats.org/officeDocument/2006/relationships/image" Target="../media/image11.png"/><Relationship Id="rId4" Type="http://schemas.openxmlformats.org/officeDocument/2006/relationships/image" Target="../media/image13.png"/><Relationship Id="rId5" Type="http://schemas.openxmlformats.org/officeDocument/2006/relationships/image" Target="../media/image16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image" Target="../media/image17.png"/><Relationship Id="rId3" Type="http://schemas.openxmlformats.org/officeDocument/2006/relationships/image" Target="../media/image18.png"/><Relationship Id="rId4" Type="http://schemas.openxmlformats.org/officeDocument/2006/relationships/image" Target="../media/image19.png"/><Relationship Id="rId5" Type="http://schemas.openxmlformats.org/officeDocument/2006/relationships/image" Target="../media/image12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image" Target="../media/image20.png"/><Relationship Id="rId3" Type="http://schemas.openxmlformats.org/officeDocument/2006/relationships/image" Target="../media/image21.png"/><Relationship Id="rId4" Type="http://schemas.openxmlformats.org/officeDocument/2006/relationships/image" Target="../media/image22.png"/><Relationship Id="rId5" Type="http://schemas.openxmlformats.org/officeDocument/2006/relationships/image" Target="../media/image12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image" Target="../media/image23.png"/><Relationship Id="rId3" Type="http://schemas.openxmlformats.org/officeDocument/2006/relationships/image" Target="../media/image11.png"/><Relationship Id="rId4" Type="http://schemas.openxmlformats.org/officeDocument/2006/relationships/image" Target="../media/image24.png"/><Relationship Id="rId5" Type="http://schemas.openxmlformats.org/officeDocument/2006/relationships/image" Target="../media/image13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6" name="표 5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84002065"/>
              </p:ext>
            </p:extLst>
          </p:nvPr>
        </p:nvGraphicFramePr>
        <p:xfrm>
          <a:off x="527397" y="4563687"/>
          <a:ext cx="6712988" cy="111221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91569">
                  <a:extLst>
                    <a:ext uri="{9D8B030D-6E8A-4147-A177-3AD203B41FA5}">
                      <a16:colId xmlns:a16="http://schemas.microsoft.com/office/drawing/2014/main" val="2581860913"/>
                    </a:ext>
                  </a:extLst>
                </a:gridCol>
                <a:gridCol w="4821419">
                  <a:extLst>
                    <a:ext uri="{9D8B030D-6E8A-4147-A177-3AD203B41FA5}">
                      <a16:colId xmlns:a16="http://schemas.microsoft.com/office/drawing/2014/main" val="1059508984"/>
                    </a:ext>
                  </a:extLst>
                </a:gridCol>
              </a:tblGrid>
              <a:tr h="547792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2400" b="1" dirty="0" smtClean="0">
                          <a:solidFill>
                            <a:schemeClr val="bg1"/>
                          </a:solidFill>
                        </a:rPr>
                        <a:t>팀 명</a:t>
                      </a:r>
                      <a:endParaRPr lang="ko-KR" altLang="en-US" sz="2400" b="1" dirty="0">
                        <a:solidFill>
                          <a:schemeClr val="bg1"/>
                        </a:solidFill>
                      </a:endParaRPr>
                    </a:p>
                  </a:txBody>
                  <a:tcPr anchor="ctr"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A401"/>
                    </a:solidFill>
                  </a:tcPr>
                </a:tc>
                <a:tc>
                  <a:txBody>
                    <a:bodyPr wrap="square"/>
                    <a:lstStyle/>
                    <a:p>
                      <a:pPr latinLnBrk="1" algn="ctr"/>
                      <a:r>
                        <a:rPr sz="2000">
                          <a:solidFill>
                            <a:srgbClr val="1F2326"/>
                          </a:solidFill>
                        </a:rPr>
                        <a:t>라이스쿠키</a:t>
                      </a:r>
                      <a:endParaRPr lang="ko-KR" altLang="en-US" sz="24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DE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342559057"/>
                  </a:ext>
                </a:extLst>
              </a:tr>
              <a:tr h="564418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2400" b="1" dirty="0" smtClean="0">
                          <a:solidFill>
                            <a:schemeClr val="bg1"/>
                          </a:solidFill>
                        </a:rPr>
                        <a:t>서비스</a:t>
                      </a:r>
                      <a:r>
                        <a:rPr lang="ko-KR" altLang="en-US" sz="2400" b="1" baseline="0" dirty="0" smtClean="0">
                          <a:solidFill>
                            <a:schemeClr val="bg1"/>
                          </a:solidFill>
                        </a:rPr>
                        <a:t> </a:t>
                      </a:r>
                      <a:r>
                        <a:rPr lang="ko-KR" altLang="en-US" sz="2400" b="1" dirty="0" smtClean="0">
                          <a:solidFill>
                            <a:schemeClr val="bg1"/>
                          </a:solidFill>
                        </a:rPr>
                        <a:t>명</a:t>
                      </a:r>
                      <a:endParaRPr lang="ko-KR" altLang="en-US" sz="2400" b="1" dirty="0">
                        <a:solidFill>
                          <a:schemeClr val="bg1"/>
                        </a:solidFill>
                      </a:endParaRPr>
                    </a:p>
                  </a:txBody>
                  <a:tcPr anchor="ctr"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solidFill>
                      <a:srgbClr val="FFA401"/>
                    </a:solidFill>
                  </a:tcPr>
                </a:tc>
                <a:tc>
                  <a:txBody>
                    <a:bodyPr wrap="square"/>
                    <a:lstStyle/>
                    <a:p>
                      <a:pPr latinLnBrk="1" algn="ctr"/>
                      <a:r>
                        <a:rPr sz="2000">
                          <a:solidFill>
                            <a:srgbClr val="1F2326"/>
                          </a:solidFill>
                        </a:rPr>
                        <a:t>P의여행:국도편</a:t>
                      </a:r>
                      <a:endParaRPr lang="ko-KR" altLang="en-US" sz="24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solidFill>
                      <a:srgbClr val="FFFDE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441169869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353449824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7" name="표 16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131695012"/>
              </p:ext>
            </p:extLst>
          </p:nvPr>
        </p:nvGraphicFramePr>
        <p:xfrm>
          <a:off x="287250" y="1218429"/>
          <a:ext cx="11649825" cy="4750109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55222">
                  <a:extLst>
                    <a:ext uri="{9D8B030D-6E8A-4147-A177-3AD203B41FA5}">
                      <a16:colId xmlns:a16="http://schemas.microsoft.com/office/drawing/2014/main" val="1299753452"/>
                    </a:ext>
                  </a:extLst>
                </a:gridCol>
                <a:gridCol w="9694603">
                  <a:extLst>
                    <a:ext uri="{9D8B030D-6E8A-4147-A177-3AD203B41FA5}">
                      <a16:colId xmlns:a16="http://schemas.microsoft.com/office/drawing/2014/main" val="3999346814"/>
                    </a:ext>
                  </a:extLst>
                </a:gridCol>
              </a:tblGrid>
              <a:tr h="547212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b="1" dirty="0" smtClean="0">
                          <a:solidFill>
                            <a:schemeClr val="bg1"/>
                          </a:solidFill>
                        </a:rPr>
                        <a:t>서비스명</a:t>
                      </a:r>
                      <a:endParaRPr lang="ko-KR" altLang="en-US" b="1" dirty="0">
                        <a:solidFill>
                          <a:schemeClr val="bg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6F00"/>
                    </a:solidFill>
                  </a:tcPr>
                </a:tc>
                <a:tc>
                  <a:txBody>
                    <a:bodyPr wrap="square"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1600">
                          <a:solidFill>
                            <a:srgbClr val="1F2326"/>
                          </a:solidFill>
                        </a:rPr>
                        <a:t>P의여행:국도편  (국도 위의 발견 레이더)</a:t>
                      </a:r>
                      <a:endParaRPr lang="en-US" altLang="ko-KR" sz="1800" b="0" baseline="0" dirty="0" smtClean="0">
                        <a:solidFill>
                          <a:schemeClr val="tx1"/>
                        </a:solidFill>
                        <a:latin typeface="+mn-lt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903409156"/>
                  </a:ext>
                </a:extLst>
              </a:tr>
              <a:tr h="731060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b="1" dirty="0" smtClean="0">
                          <a:solidFill>
                            <a:schemeClr val="bg1"/>
                          </a:solidFill>
                        </a:rPr>
                        <a:t>서비스 유형</a:t>
                      </a:r>
                      <a:endParaRPr lang="ko-KR" altLang="en-US" b="1" dirty="0">
                        <a:solidFill>
                          <a:schemeClr val="bg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6F00"/>
                    </a:solidFill>
                  </a:tcPr>
                </a:tc>
                <a:tc>
                  <a:txBody>
                    <a:bodyPr wrap="square"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1500">
                          <a:solidFill>
                            <a:srgbClr val="1F2326"/>
                          </a:solidFill>
                        </a:rPr>
                        <a:t>앱 서비스 (iOS) · App Store 출시</a:t>
                      </a:r>
                      <a:endParaRPr lang="en-US" altLang="ko-KR" sz="1800" b="0" dirty="0" smtClean="0">
                        <a:solidFill>
                          <a:srgbClr val="FF0000"/>
                        </a:solidFill>
                        <a:latin typeface="+mn-lt"/>
                      </a:endParaRPr>
                    </a:p>
                    <a:p>
                      <a:r>
                        <a:rPr sz="1200">
                          <a:solidFill>
                            <a:srgbClr val="1F2326"/>
                          </a:solidFill>
                        </a:rPr>
                        <a:t>App Store  </a:t>
                      </a:r>
                      <a:r>
                        <a:rPr sz="1200">
                          <a:hlinkClick r:id="rId2"/>
                        </a:rPr>
                        <a:t>https://apps.apple.com/kr/app/id6806749553</a:t>
                      </a:r>
                    </a:p>
                    <a:p>
                      <a:r>
                        <a:rPr sz="1200">
                          <a:solidFill>
                            <a:srgbClr val="1F2326"/>
                          </a:solidFill>
                        </a:rPr>
                        <a:t>데모 영상  </a:t>
                      </a:r>
                      <a:r>
                        <a:rPr sz="1200">
                          <a:hlinkClick r:id="rId3"/>
                        </a:rPr>
                        <a:t>https://youtu.be/q4jvO63vvQA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126837495"/>
                  </a:ext>
                </a:extLst>
              </a:tr>
              <a:tr h="1030246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b="1" dirty="0" smtClean="0">
                          <a:solidFill>
                            <a:schemeClr val="bg1"/>
                          </a:solidFill>
                        </a:rPr>
                        <a:t>서비스 개요</a:t>
                      </a:r>
                      <a:endParaRPr lang="en-US" altLang="ko-KR" b="1" dirty="0" smtClean="0">
                        <a:solidFill>
                          <a:schemeClr val="bg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6F00"/>
                    </a:solidFill>
                  </a:tcPr>
                </a:tc>
                <a:tc>
                  <a:txBody>
                    <a:bodyPr wrap="square"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sz="1400" b="1">
                          <a:solidFill>
                            <a:srgbClr val="1F2326"/>
                          </a:solidFill>
                        </a:rPr>
                        <a:t>목적지 없이 국도를 달려도 휴일을 버리지 않도록, 관광데이터로 검증된 발견을 지나치기 전에 알려주는 즉흥 여행 앱</a:t>
                      </a:r>
                    </a:p>
                    <a:p>
                      <a:pPr algn="l"/>
                      <a:r>
                        <a:rPr sz="1400">
                          <a:solidFill>
                            <a:srgbClr val="1F2326"/>
                          </a:solidFill>
                        </a:rPr>
                        <a:t>국도와 방향만 선택하면 앞쪽의 오늘 서는 장·일몰·확인된 맛집을 카드 한 장으로 제공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064568051"/>
                  </a:ext>
                </a:extLst>
              </a:tr>
              <a:tr h="2441591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b="1" dirty="0" smtClean="0">
                          <a:solidFill>
                            <a:schemeClr val="bg1"/>
                          </a:solidFill>
                        </a:rPr>
                        <a:t>주제 선정 이유</a:t>
                      </a:r>
                      <a:endParaRPr lang="ko-KR" altLang="en-US" b="1" dirty="0">
                        <a:solidFill>
                          <a:schemeClr val="bg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6F00"/>
                    </a:solidFill>
                  </a:tcPr>
                </a:tc>
                <a:tc>
                  <a:txBody>
                    <a:bodyPr wrap="square"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sz="1200" b="1">
                          <a:solidFill>
                            <a:srgbClr val="1F2326"/>
                          </a:solidFill>
                        </a:rPr>
                        <a:t>• 즉흥 여행의 확산</a:t>
                      </a:r>
                    </a:p>
                    <a:p>
                      <a:pPr algn="l" marL="201168" indent="-128016"/>
                      <a:r>
                        <a:rPr sz="1150">
                          <a:solidFill>
                            <a:srgbClr val="3E4347"/>
                          </a:solidFill>
                        </a:rPr>
                        <a:t>‒ 「풍향중」처럼 목적지 없이 떠나는 여행이 유행. 국도에서 우연히 만나는 새로움에 대한 수요 증가</a:t>
                      </a:r>
                    </a:p>
                    <a:p>
                      <a:pPr algn="l">
                        <a:spcBef>
                          <a:spcPts val="400"/>
                        </a:spcBef>
                      </a:pPr>
                      <a:r>
                        <a:rPr sz="1200" b="1">
                          <a:solidFill>
                            <a:srgbClr val="1F2326"/>
                          </a:solidFill>
                        </a:rPr>
                        <a:t>• 즉흥 여행의 리스크</a:t>
                      </a:r>
                    </a:p>
                    <a:p>
                      <a:pPr algn="l" marL="201168" indent="-128016"/>
                      <a:r>
                        <a:rPr sz="1150">
                          <a:solidFill>
                            <a:srgbClr val="3E4347"/>
                          </a:solidFill>
                        </a:rPr>
                        <a:t>‒ 지도책만으로 나서면 문 닫은 식당, 장이 서지 않는 날, 지나친 뒤 알게 되는 명소로 휴일을 낭비할 위험</a:t>
                      </a:r>
                    </a:p>
                    <a:p>
                      <a:pPr algn="l">
                        <a:spcBef>
                          <a:spcPts val="400"/>
                        </a:spcBef>
                      </a:pPr>
                      <a:r>
                        <a:rPr sz="1200" b="1">
                          <a:solidFill>
                            <a:srgbClr val="1F2326"/>
                          </a:solidFill>
                        </a:rPr>
                        <a:t>• 관광데이터의 가능성</a:t>
                      </a:r>
                    </a:p>
                    <a:p>
                      <a:pPr algn="l" marL="201168" indent="-128016"/>
                      <a:r>
                        <a:rPr sz="1150">
                          <a:solidFill>
                            <a:srgbClr val="3E4347"/>
                          </a:solidFill>
                        </a:rPr>
                        <a:t>‒ 관광공사 관광정보의 영업시간·휴무일·장날·사진·연관 관광지를 국도 선형과 현재 위치·진행 방향에 결합</a:t>
                      </a:r>
                    </a:p>
                    <a:p>
                      <a:pPr algn="l" marL="201168" indent="-128016"/>
                      <a:r>
                        <a:rPr sz="1150">
                          <a:solidFill>
                            <a:srgbClr val="3E4347"/>
                          </a:solidFill>
                        </a:rPr>
                        <a:t>‒ "지금 이 길 앞에 무엇이 있는가"로 전환</a:t>
                      </a:r>
                    </a:p>
                    <a:p>
                      <a:pPr algn="l">
                        <a:spcBef>
                          <a:spcPts val="400"/>
                        </a:spcBef>
                      </a:pPr>
                      <a:r>
                        <a:rPr sz="1200" b="1">
                          <a:solidFill>
                            <a:srgbClr val="1F2326"/>
                          </a:solidFill>
                        </a:rPr>
                        <a:t>• 기획 방향</a:t>
                      </a:r>
                    </a:p>
                    <a:p>
                      <a:pPr algn="l" marL="201168" indent="-128016"/>
                      <a:r>
                        <a:rPr sz="1150">
                          <a:solidFill>
                            <a:srgbClr val="3E4347"/>
                          </a:solidFill>
                        </a:rPr>
                        <a:t>‒ 목적지는 묻지 않되 우연을 데이터로 뒷받침하는 앱</a:t>
                      </a:r>
                    </a:p>
                    <a:p>
                      <a:pPr algn="l" marL="201168" indent="-128016"/>
                      <a:r>
                        <a:rPr sz="1150">
                          <a:solidFill>
                            <a:srgbClr val="3E4347"/>
                          </a:solidFill>
                        </a:rPr>
                        <a:t>‒ 국도에서 만난 우연이 하루의 여행기로 남고, 발길이 소도시·시장·자연으로 분산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17412154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526000993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7" name="표 16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960646751"/>
              </p:ext>
            </p:extLst>
          </p:nvPr>
        </p:nvGraphicFramePr>
        <p:xfrm>
          <a:off x="287250" y="1218429"/>
          <a:ext cx="11649826" cy="473348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55222">
                  <a:extLst>
                    <a:ext uri="{9D8B030D-6E8A-4147-A177-3AD203B41FA5}">
                      <a16:colId xmlns:a16="http://schemas.microsoft.com/office/drawing/2014/main" val="1299753452"/>
                    </a:ext>
                  </a:extLst>
                </a:gridCol>
                <a:gridCol w="9694604">
                  <a:extLst>
                    <a:ext uri="{9D8B030D-6E8A-4147-A177-3AD203B41FA5}">
                      <a16:colId xmlns:a16="http://schemas.microsoft.com/office/drawing/2014/main" val="3999346814"/>
                    </a:ext>
                  </a:extLst>
                </a:gridCol>
              </a:tblGrid>
              <a:tr h="4733484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b="1" dirty="0" smtClean="0">
                          <a:solidFill>
                            <a:schemeClr val="bg1"/>
                          </a:solidFill>
                        </a:rPr>
                        <a:t>서비스 핵심기능</a:t>
                      </a:r>
                    </a:p>
                    <a:p>
                      <a:pPr algn="ctr" latinLnBrk="1"/>
                      <a:endParaRPr lang="ko-KR" altLang="en-US" b="1" dirty="0">
                        <a:solidFill>
                          <a:schemeClr val="bg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6F00"/>
                    </a:solidFill>
                  </a:tcPr>
                </a:tc>
                <a:tc>
                  <a:txBody>
                    <a:bodyPr wrap="square"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sz="1350" b="1">
                          <a:solidFill>
                            <a:srgbClr val="1F2326"/>
                          </a:solidFill>
                        </a:rPr>
                        <a:t>1. 길 선택과 출발</a:t>
                      </a:r>
                    </a:p>
                    <a:p>
                      <a:pPr algn="l" marL="201168" indent="-128016"/>
                      <a:r>
                        <a:rPr sz="1300">
                          <a:solidFill>
                            <a:srgbClr val="3E4347"/>
                          </a:solidFill>
                        </a:rPr>
                        <a:t>‒ Apple 지도 위에 국도 51선 전체 표시. 내 주변에서 탈 수 있는 길과 노선별 큐레이션 한 줄</a:t>
                      </a:r>
                    </a:p>
                    <a:p>
                      <a:pPr algn="l" marL="201168" indent="-128016"/>
                      <a:r>
                        <a:rPr sz="1300">
                          <a:solidFill>
                            <a:srgbClr val="3E4347"/>
                          </a:solidFill>
                        </a:rPr>
                        <a:t>‒ 목적지·도착 시각 없이 방향(북/남, 동/서)만 선택 → 티맵·애플 지도로 길안내 연결 (앱은 내비게이션이 아님)</a:t>
                      </a:r>
                    </a:p>
                    <a:p>
                      <a:pPr algn="l">
                        <a:spcBef>
                          <a:spcPts val="600"/>
                        </a:spcBef>
                      </a:pPr>
                      <a:r>
                        <a:rPr sz="1350" b="1">
                          <a:solidFill>
                            <a:srgbClr val="1F2326"/>
                          </a:solidFill>
                        </a:rPr>
                        <a:t>2. 발견 레이더</a:t>
                      </a:r>
                    </a:p>
                    <a:p>
                      <a:pPr algn="l" marL="201168" indent="-128016"/>
                      <a:r>
                        <a:rPr sz="1300">
                          <a:solidFill>
                            <a:srgbClr val="3E4347"/>
                          </a:solidFill>
                        </a:rPr>
                        <a:t>‒ 현재 위치·진행 방향 반경 5km에서 영업정보·사진이 확인된 스팟만 전면 카드 한 장으로 제시</a:t>
                      </a:r>
                    </a:p>
                    <a:p>
                      <a:pPr algn="l" marL="201168" indent="-128016"/>
                      <a:r>
                        <a:rPr sz="1300">
                          <a:solidFill>
                            <a:srgbClr val="3E4347"/>
                          </a:solidFill>
                        </a:rPr>
                        <a:t>‒ 별점·후기 없이 데이터 완성도로 신뢰 확보. 장날·일몰·마감 임박 우선. 넘기기 / 들르기 / 찜</a:t>
                      </a:r>
                    </a:p>
                    <a:p>
                      <a:pPr algn="l">
                        <a:spcBef>
                          <a:spcPts val="600"/>
                        </a:spcBef>
                      </a:pPr>
                      <a:r>
                        <a:rPr sz="1350" b="1">
                          <a:solidFill>
                            <a:srgbClr val="1F2326"/>
                          </a:solidFill>
                        </a:rPr>
                        <a:t>3. 소리와 알림</a:t>
                      </a:r>
                    </a:p>
                    <a:p>
                      <a:pPr algn="l" marL="201168" indent="-128016"/>
                      <a:r>
                        <a:rPr sz="1300">
                          <a:solidFill>
                            <a:srgbClr val="3E4347"/>
                          </a:solidFill>
                        </a:rPr>
                        <a:t>‒ 내비 실행 중에도 음성 우선 안내 (내비 음성을 끊지 않고 일시적으로 낮춤)</a:t>
                      </a:r>
                    </a:p>
                    <a:p>
                      <a:pPr algn="l" marL="201168" indent="-128016"/>
                      <a:r>
                        <a:rPr sz="1300">
                          <a:solidFill>
                            <a:srgbClr val="3E4347"/>
                          </a:solidFill>
                        </a:rPr>
                        <a:t>‒ 놓친 발견은 알림에 보관, 선택 시 상세 화면으로 이동</a:t>
                      </a:r>
                    </a:p>
                    <a:p>
                      <a:pPr algn="l">
                        <a:spcBef>
                          <a:spcPts val="600"/>
                        </a:spcBef>
                      </a:pPr>
                      <a:r>
                        <a:rPr sz="1350" b="1">
                          <a:solidFill>
                            <a:srgbClr val="1F2326"/>
                          </a:solidFill>
                        </a:rPr>
                        <a:t>4. 들른 뒤 이어가기</a:t>
                      </a:r>
                    </a:p>
                    <a:p>
                      <a:pPr algn="l" marL="201168" indent="-128016"/>
                      <a:r>
                        <a:rPr sz="1300">
                          <a:solidFill>
                            <a:srgbClr val="3E4347"/>
                          </a:solidFill>
                        </a:rPr>
                        <a:t>‒ 정차 2분 시 「여기서 앞쪽으로」 앞쪽 10km 후보 3곳 제시</a:t>
                      </a:r>
                    </a:p>
                    <a:p>
                      <a:pPr algn="l" marL="201168" indent="-128016"/>
                      <a:r>
                        <a:rPr sz="1300">
                          <a:solidFill>
                            <a:srgbClr val="3E4347"/>
                          </a:solidFill>
                        </a:rPr>
                        <a:t>‒ 주행 중 다른 국도로 갈아타도 여행과 기록 유지</a:t>
                      </a:r>
                    </a:p>
                    <a:p>
                      <a:pPr algn="l">
                        <a:spcBef>
                          <a:spcPts val="600"/>
                        </a:spcBef>
                      </a:pPr>
                      <a:r>
                        <a:rPr sz="1350" b="1">
                          <a:solidFill>
                            <a:srgbClr val="1F2326"/>
                          </a:solidFill>
                        </a:rPr>
                        <a:t>5. 여행기</a:t>
                      </a:r>
                    </a:p>
                    <a:p>
                      <a:pPr algn="l" marL="201168" indent="-128016"/>
                      <a:r>
                        <a:rPr sz="1300">
                          <a:solidFill>
                            <a:srgbClr val="3E4347"/>
                          </a:solidFill>
                        </a:rPr>
                        <a:t>‒ 하루를 「N번 국도에서 생긴 일」 한 편으로 자동 기록</a:t>
                      </a:r>
                    </a:p>
                    <a:p>
                      <a:pPr algn="l" marL="201168" indent="-128016"/>
                      <a:r>
                        <a:rPr sz="1300">
                          <a:solidFill>
                            <a:srgbClr val="3E4347"/>
                          </a:solidFill>
                        </a:rPr>
                        <a:t>‒ 지나온 길 포스터 · 들른 곳 타임라인 · 공유 카드(시작·끝 300m 자동 삭제) · 국도 51선 수집 현황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903409156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4098688186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7" name="표 16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267559681"/>
              </p:ext>
            </p:extLst>
          </p:nvPr>
        </p:nvGraphicFramePr>
        <p:xfrm>
          <a:off x="287250" y="1218429"/>
          <a:ext cx="11649826" cy="499117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55222">
                  <a:extLst>
                    <a:ext uri="{9D8B030D-6E8A-4147-A177-3AD203B41FA5}">
                      <a16:colId xmlns:a16="http://schemas.microsoft.com/office/drawing/2014/main" val="1299753452"/>
                    </a:ext>
                  </a:extLst>
                </a:gridCol>
                <a:gridCol w="9694604">
                  <a:extLst>
                    <a:ext uri="{9D8B030D-6E8A-4147-A177-3AD203B41FA5}">
                      <a16:colId xmlns:a16="http://schemas.microsoft.com/office/drawing/2014/main" val="3999346814"/>
                    </a:ext>
                  </a:extLst>
                </a:gridCol>
              </a:tblGrid>
              <a:tr h="1847697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b="1" dirty="0" smtClean="0">
                          <a:solidFill>
                            <a:schemeClr val="bg1"/>
                          </a:solidFill>
                        </a:rPr>
                        <a:t>서비스</a:t>
                      </a:r>
                      <a:endParaRPr lang="en-US" altLang="ko-KR" b="1" dirty="0" smtClean="0">
                        <a:solidFill>
                          <a:schemeClr val="bg1"/>
                        </a:solidFill>
                      </a:endParaRPr>
                    </a:p>
                    <a:p>
                      <a:pPr algn="ctr" latinLnBrk="1"/>
                      <a:r>
                        <a:rPr lang="ko-KR" altLang="en-US" b="1" dirty="0" smtClean="0">
                          <a:solidFill>
                            <a:schemeClr val="bg1"/>
                          </a:solidFill>
                        </a:rPr>
                        <a:t>대표 이미지</a:t>
                      </a:r>
                      <a:endParaRPr lang="en-US" altLang="ko-KR" b="1" dirty="0" smtClean="0">
                        <a:solidFill>
                          <a:schemeClr val="bg1"/>
                        </a:solidFill>
                      </a:endParaRPr>
                    </a:p>
                    <a:p>
                      <a:pPr algn="ctr" latinLnBrk="1"/>
                      <a:r>
                        <a:rPr lang="en-US" altLang="ko-KR" b="1" dirty="0" smtClean="0">
                          <a:solidFill>
                            <a:schemeClr val="bg1"/>
                          </a:solidFill>
                        </a:rPr>
                        <a:t>(</a:t>
                      </a:r>
                      <a:r>
                        <a:rPr lang="ko-KR" altLang="en-US" b="1" dirty="0" err="1" smtClean="0">
                          <a:solidFill>
                            <a:schemeClr val="bg1"/>
                          </a:solidFill>
                        </a:rPr>
                        <a:t>썸네일</a:t>
                      </a:r>
                      <a:r>
                        <a:rPr lang="en-US" altLang="ko-KR" b="1" dirty="0" smtClean="0">
                          <a:solidFill>
                            <a:schemeClr val="bg1"/>
                          </a:solidFill>
                        </a:rPr>
                        <a:t>)</a:t>
                      </a:r>
                      <a:endParaRPr lang="ko-KR" altLang="en-US" b="1" dirty="0">
                        <a:solidFill>
                          <a:schemeClr val="bg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6F00"/>
                    </a:solidFill>
                  </a:tcPr>
                </a:tc>
                <a:tc>
                  <a:txBody>
                    <a:bodyPr wrap="square"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sz="1200">
                          <a:solidFill>
                            <a:srgbClr val="1F2326"/>
                          </a:solidFill>
                        </a:rPr>
                        <a:t/>
                      </a:r>
                      <a:endParaRPr lang="en-US" altLang="ko-KR" sz="1800" b="0" dirty="0" smtClean="0">
                        <a:solidFill>
                          <a:srgbClr val="FF0000"/>
                        </a:solidFill>
                        <a:latin typeface="+mn-lt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903409156"/>
                  </a:ext>
                </a:extLst>
              </a:tr>
              <a:tr h="3143481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b="1" dirty="0" smtClean="0">
                          <a:solidFill>
                            <a:schemeClr val="bg1"/>
                          </a:solidFill>
                        </a:rPr>
                        <a:t>서비스</a:t>
                      </a:r>
                      <a:endParaRPr lang="en-US" altLang="ko-KR" b="1" dirty="0" smtClean="0">
                        <a:solidFill>
                          <a:schemeClr val="bg1"/>
                        </a:solidFill>
                      </a:endParaRPr>
                    </a:p>
                    <a:p>
                      <a:pPr algn="ctr" latinLnBrk="1"/>
                      <a:r>
                        <a:rPr lang="ko-KR" altLang="en-US" b="1" dirty="0" smtClean="0">
                          <a:solidFill>
                            <a:schemeClr val="bg1"/>
                          </a:solidFill>
                        </a:rPr>
                        <a:t>상세 이미지</a:t>
                      </a:r>
                      <a:endParaRPr lang="en-US" altLang="ko-KR" b="1" dirty="0" smtClean="0">
                        <a:solidFill>
                          <a:schemeClr val="bg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6F00"/>
                    </a:solidFill>
                  </a:tcPr>
                </a:tc>
                <a:tc>
                  <a:txBody>
                    <a:bodyPr wrap="square"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sz="1200">
                          <a:solidFill>
                            <a:srgbClr val="1F2326"/>
                          </a:solidFill>
                        </a:rPr>
                        <a:t/>
                      </a:r>
                      <a:endParaRPr lang="en-US" altLang="ko-KR" sz="1800" b="0" dirty="0" smtClean="0">
                        <a:solidFill>
                          <a:srgbClr val="FF0000"/>
                        </a:solidFill>
                        <a:latin typeface="+mn-lt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17412154"/>
                  </a:ext>
                </a:extLst>
              </a:tr>
            </a:tbl>
          </a:graphicData>
        </a:graphic>
      </p:graphicFrame>
      <p:pic>
        <p:nvPicPr>
          <p:cNvPr id="18" name="Picture 17" descr="썸네일_밝음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09936" y="1309869"/>
            <a:ext cx="2959674" cy="1664817"/>
          </a:xfrm>
          <a:prstGeom prst="rect">
            <a:avLst/>
          </a:prstGeom>
        </p:spPr>
      </p:pic>
      <p:pic>
        <p:nvPicPr>
          <p:cNvPr id="19" name="Picture 18" descr="1_hom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354040" y="3157566"/>
            <a:ext cx="1362619" cy="2960601"/>
          </a:xfrm>
          <a:prstGeom prst="rect">
            <a:avLst/>
          </a:prstGeom>
        </p:spPr>
      </p:pic>
      <p:pic>
        <p:nvPicPr>
          <p:cNvPr id="20" name="Picture 19" descr="2_depart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881252" y="3157566"/>
            <a:ext cx="1362619" cy="2960601"/>
          </a:xfrm>
          <a:prstGeom prst="rect">
            <a:avLst/>
          </a:prstGeom>
        </p:spPr>
      </p:pic>
      <p:pic>
        <p:nvPicPr>
          <p:cNvPr id="21" name="Picture 20" descr="3_car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408464" y="3157566"/>
            <a:ext cx="1362619" cy="2960601"/>
          </a:xfrm>
          <a:prstGeom prst="rect">
            <a:avLst/>
          </a:prstGeom>
        </p:spPr>
      </p:pic>
      <p:pic>
        <p:nvPicPr>
          <p:cNvPr id="22" name="Picture 21" descr="4_radar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935675" y="3157566"/>
            <a:ext cx="1362619" cy="2960601"/>
          </a:xfrm>
          <a:prstGeom prst="rect">
            <a:avLst/>
          </a:prstGeom>
        </p:spPr>
      </p:pic>
      <p:pic>
        <p:nvPicPr>
          <p:cNvPr id="23" name="Picture 22" descr="5_spot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9462887" y="3157566"/>
            <a:ext cx="1362619" cy="296060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22969208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8" name="표 7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957004574"/>
              </p:ext>
            </p:extLst>
          </p:nvPr>
        </p:nvGraphicFramePr>
        <p:xfrm>
          <a:off x="302952" y="1933326"/>
          <a:ext cx="11426308" cy="460584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856577">
                  <a:extLst>
                    <a:ext uri="{9D8B030D-6E8A-4147-A177-3AD203B41FA5}">
                      <a16:colId xmlns:a16="http://schemas.microsoft.com/office/drawing/2014/main" val="956832101"/>
                    </a:ext>
                  </a:extLst>
                </a:gridCol>
                <a:gridCol w="2856577">
                  <a:extLst>
                    <a:ext uri="{9D8B030D-6E8A-4147-A177-3AD203B41FA5}">
                      <a16:colId xmlns:a16="http://schemas.microsoft.com/office/drawing/2014/main" val="2325135401"/>
                    </a:ext>
                  </a:extLst>
                </a:gridCol>
                <a:gridCol w="2856577">
                  <a:extLst>
                    <a:ext uri="{9D8B030D-6E8A-4147-A177-3AD203B41FA5}">
                      <a16:colId xmlns:a16="http://schemas.microsoft.com/office/drawing/2014/main" val="1669866357"/>
                    </a:ext>
                  </a:extLst>
                </a:gridCol>
                <a:gridCol w="2856577">
                  <a:extLst>
                    <a:ext uri="{9D8B030D-6E8A-4147-A177-3AD203B41FA5}">
                      <a16:colId xmlns:a16="http://schemas.microsoft.com/office/drawing/2014/main" val="1337599892"/>
                    </a:ext>
                  </a:extLst>
                </a:gridCol>
              </a:tblGrid>
              <a:tr h="327145">
                <a:tc gridSpan="4">
                  <a:txBody>
                    <a:bodyPr/>
                    <a:lstStyle/>
                    <a:p>
                      <a:pPr algn="ctr" latinLnBrk="1"/>
                      <a:r>
                        <a:rPr lang="ko-KR" altLang="en-US" dirty="0" smtClean="0">
                          <a:solidFill>
                            <a:schemeClr val="bg1"/>
                          </a:solidFill>
                        </a:rPr>
                        <a:t>기능</a:t>
                      </a:r>
                      <a:r>
                        <a:rPr lang="ko-KR" altLang="en-US" baseline="0" dirty="0" smtClean="0">
                          <a:solidFill>
                            <a:schemeClr val="bg1"/>
                          </a:solidFill>
                        </a:rPr>
                        <a:t> </a:t>
                      </a:r>
                      <a:r>
                        <a:rPr lang="ko-KR" altLang="en-US" dirty="0" smtClean="0">
                          <a:solidFill>
                            <a:schemeClr val="bg1"/>
                          </a:solidFill>
                        </a:rPr>
                        <a:t>흐름도</a:t>
                      </a:r>
                      <a:endParaRPr lang="ko-KR" altLang="en-US" dirty="0">
                        <a:solidFill>
                          <a:schemeClr val="bg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6F00"/>
                    </a:solidFill>
                  </a:tcPr>
                </a:tc>
                <a:tc hMerge="1">
                  <a:txBody>
                    <a:bodyPr/>
                    <a:lstStyle/>
                    <a:p>
                      <a:pPr algn="ctr" latinLnBrk="1"/>
                      <a:endParaRPr lang="ko-KR" altLang="en-US" dirty="0">
                        <a:solidFill>
                          <a:schemeClr val="bg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6F00"/>
                    </a:solidFill>
                  </a:tcPr>
                </a:tc>
                <a:tc hMerge="1">
                  <a:txBody>
                    <a:bodyPr/>
                    <a:lstStyle/>
                    <a:p>
                      <a:pPr algn="ctr" latinLnBrk="1"/>
                      <a:endParaRPr lang="ko-KR" altLang="en-US" dirty="0">
                        <a:solidFill>
                          <a:schemeClr val="bg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6F00"/>
                    </a:solidFill>
                  </a:tcPr>
                </a:tc>
                <a:tc hMerge="1">
                  <a:txBody>
                    <a:bodyPr/>
                    <a:lstStyle/>
                    <a:p>
                      <a:pPr algn="ctr" latinLnBrk="1"/>
                      <a:endParaRPr lang="ko-KR" altLang="en-US" dirty="0">
                        <a:solidFill>
                          <a:schemeClr val="bg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6F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32358826"/>
                  </a:ext>
                </a:extLst>
              </a:tr>
              <a:tr h="2806208">
                <a:tc>
                  <a:txBody>
                    <a:bodyPr wrap="square"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sz="1000">
                          <a:solidFill>
                            <a:srgbClr val="1F2326"/>
                          </a:solidFill>
                        </a:rPr>
                        <a:t/>
                      </a:r>
                      <a:endParaRPr lang="en-US" altLang="ko-KR" sz="1800" b="0" dirty="0" smtClean="0">
                        <a:solidFill>
                          <a:srgbClr val="FF0000"/>
                        </a:solidFill>
                        <a:latin typeface="+mn-lt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sz="1000">
                          <a:solidFill>
                            <a:srgbClr val="1F2326"/>
                          </a:solidFill>
                        </a:rPr>
                        <a:t/>
                      </a:r>
                      <a:endParaRPr lang="ko-KR" altLang="en-US" b="0" dirty="0" smtClean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sz="1000">
                          <a:solidFill>
                            <a:srgbClr val="1F2326"/>
                          </a:solidFill>
                        </a:rPr>
                        <a:t/>
                      </a:r>
                      <a:endParaRPr lang="ko-KR" altLang="en-US" b="0" dirty="0" smtClean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sz="1000">
                          <a:solidFill>
                            <a:srgbClr val="1F2326"/>
                          </a:solidFill>
                        </a:rPr>
                        <a:t/>
                      </a:r>
                      <a:endParaRPr lang="ko-KR" altLang="en-US" b="0" dirty="0" smtClean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357600838"/>
                  </a:ext>
                </a:extLst>
              </a:tr>
              <a:tr h="1433874">
                <a:tc>
                  <a:txBody>
                    <a:bodyPr wrap="square"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sz="1050" b="1">
                          <a:solidFill>
                            <a:srgbClr val="1F2326"/>
                          </a:solidFill>
                        </a:rPr>
                        <a:t>① 홈 = 지도</a:t>
                      </a:r>
                      <a:endParaRPr lang="en-US" altLang="ko-KR" b="0" dirty="0" smtClean="0">
                        <a:solidFill>
                          <a:schemeClr val="tx1"/>
                        </a:solidFill>
                      </a:endParaRPr>
                    </a:p>
                    <a:p>
                      <a:pPr algn="l" marL="201168" indent="-128016"/>
                      <a:r>
                        <a:rPr sz="1000">
                          <a:solidFill>
                            <a:srgbClr val="3E4347"/>
                          </a:solidFill>
                        </a:rPr>
                        <a:t>‒ 국도 51선 파란 선</a:t>
                      </a:r>
                    </a:p>
                    <a:p>
                      <a:pPr algn="l" marL="201168" indent="-128016"/>
                      <a:r>
                        <a:rPr sz="1000">
                          <a:solidFill>
                            <a:srgbClr val="3E4347"/>
                          </a:solidFill>
                        </a:rPr>
                        <a:t>‒ 「여기서 탈 수 있는 길」 + 노선별 큐레이션 한 줄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 latinLnBrk="1"/>
                      <a:r>
                        <a:rPr sz="1050" b="1">
                          <a:solidFill>
                            <a:srgbClr val="1F2326"/>
                          </a:solidFill>
                        </a:rPr>
                        <a:t>② 51선 전체</a:t>
                      </a:r>
                      <a:endParaRPr lang="ko-KR" altLang="en-US" b="0" dirty="0">
                        <a:solidFill>
                          <a:schemeClr val="tx1"/>
                        </a:solidFill>
                      </a:endParaRPr>
                    </a:p>
                    <a:p>
                      <a:pPr algn="l" marL="201168" indent="-128016"/>
                      <a:r>
                        <a:rPr sz="1000">
                          <a:solidFill>
                            <a:srgbClr val="3E4347"/>
                          </a:solidFill>
                        </a:rPr>
                        <a:t>‒ 시트를 올리면 전체 목록</a:t>
                      </a:r>
                    </a:p>
                    <a:p>
                      <a:pPr algn="l" marL="201168" indent="-128016"/>
                      <a:r>
                        <a:rPr sz="1000">
                          <a:solidFill>
                            <a:srgbClr val="3E4347"/>
                          </a:solidFill>
                        </a:rPr>
                        <a:t>‒ 남북(홀수)·동서(짝수) 필터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 latinLnBrk="1"/>
                      <a:r>
                        <a:rPr sz="1050" b="1">
                          <a:solidFill>
                            <a:srgbClr val="1F2326"/>
                          </a:solidFill>
                        </a:rPr>
                        <a:t>③ 방향만 선택</a:t>
                      </a:r>
                      <a:endParaRPr lang="ko-KR" altLang="en-US" b="0" dirty="0">
                        <a:solidFill>
                          <a:schemeClr val="tx1"/>
                        </a:solidFill>
                      </a:endParaRPr>
                    </a:p>
                    <a:p>
                      <a:pPr algn="l" marL="201168" indent="-128016"/>
                      <a:r>
                        <a:rPr sz="1000">
                          <a:solidFill>
                            <a:srgbClr val="3E4347"/>
                          </a:solidFill>
                        </a:rPr>
                        <a:t>‒ 「여기서 어느 쪽으로 갈까요?」</a:t>
                      </a:r>
                    </a:p>
                    <a:p>
                      <a:pPr algn="l" marL="201168" indent="-128016"/>
                      <a:r>
                        <a:rPr sz="1000">
                          <a:solidFill>
                            <a:srgbClr val="3E4347"/>
                          </a:solidFill>
                        </a:rPr>
                        <a:t>‒ 북/남 선택, 목적지 입력 없음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 latinLnBrk="1"/>
                      <a:r>
                        <a:rPr sz="1050" b="1">
                          <a:solidFill>
                            <a:srgbClr val="1F2326"/>
                          </a:solidFill>
                        </a:rPr>
                        <a:t>④ 길안내 핸드오프</a:t>
                      </a:r>
                      <a:endParaRPr lang="ko-KR" altLang="en-US" b="0" dirty="0">
                        <a:solidFill>
                          <a:schemeClr val="tx1"/>
                        </a:solidFill>
                      </a:endParaRPr>
                    </a:p>
                    <a:p>
                      <a:pPr algn="l" marL="201168" indent="-128016"/>
                      <a:r>
                        <a:rPr sz="1000">
                          <a:solidFill>
                            <a:srgbClr val="3E4347"/>
                          </a:solidFill>
                        </a:rPr>
                        <a:t>‒ 티맵 / 애플 지도로 연결</a:t>
                      </a:r>
                    </a:p>
                    <a:p>
                      <a:pPr algn="l" marL="201168" indent="-128016"/>
                      <a:r>
                        <a:rPr sz="1000">
                          <a:solidFill>
                            <a:srgbClr val="3E4347"/>
                          </a:solidFill>
                        </a:rPr>
                        <a:t>‒ 앱 자체 턴바이턴·ETA 없음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293083417"/>
                  </a:ext>
                </a:extLst>
              </a:tr>
            </a:tbl>
          </a:graphicData>
        </a:graphic>
      </p:graphicFrame>
      <p:graphicFrame>
        <p:nvGraphicFramePr>
          <p:cNvPr id="15" name="표 14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744280268"/>
              </p:ext>
            </p:extLst>
          </p:nvPr>
        </p:nvGraphicFramePr>
        <p:xfrm>
          <a:off x="302952" y="1130530"/>
          <a:ext cx="11426308" cy="7315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82764">
                  <a:extLst>
                    <a:ext uri="{9D8B030D-6E8A-4147-A177-3AD203B41FA5}">
                      <a16:colId xmlns:a16="http://schemas.microsoft.com/office/drawing/2014/main" val="837638667"/>
                    </a:ext>
                  </a:extLst>
                </a:gridCol>
                <a:gridCol w="9643544">
                  <a:extLst>
                    <a:ext uri="{9D8B030D-6E8A-4147-A177-3AD203B41FA5}">
                      <a16:colId xmlns:a16="http://schemas.microsoft.com/office/drawing/2014/main" val="2364043552"/>
                    </a:ext>
                  </a:extLst>
                </a:gridCol>
              </a:tblGrid>
              <a:tr h="236913">
                <a:tc>
                  <a:txBody>
                    <a:bodyPr wrap="square"/>
                    <a:lstStyle/>
                    <a:p>
                      <a:pPr algn="ctr" latinLnBrk="1"/>
                      <a:r>
                        <a:rPr sz="1400" b="1">
                          <a:solidFill>
                            <a:srgbClr val="1F2326"/>
                          </a:solidFill>
                        </a:rPr>
                        <a:t>핵심 기능1</a:t>
                      </a:r>
                      <a:endParaRPr lang="ko-KR" altLang="en-US" b="1" dirty="0">
                        <a:solidFill>
                          <a:schemeClr val="bg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A401"/>
                    </a:solidFill>
                  </a:tcPr>
                </a:tc>
                <a:tc>
                  <a:txBody>
                    <a:bodyPr wrap="square"/>
                    <a:lstStyle/>
                    <a:p>
                      <a:pPr latinLnBrk="1" algn="l"/>
                      <a:r>
                        <a:rPr sz="1400" b="1">
                          <a:solidFill>
                            <a:srgbClr val="1F2326"/>
                          </a:solidFill>
                        </a:rPr>
                        <a:t>길 선택 · 방향 결정 · 출발</a:t>
                      </a:r>
                      <a:endParaRPr lang="ko-KR" altLang="en-US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576143207"/>
                  </a:ext>
                </a:extLst>
              </a:tr>
              <a:tr h="236913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b="1" dirty="0" smtClean="0">
                          <a:solidFill>
                            <a:schemeClr val="bg1"/>
                          </a:solidFill>
                        </a:rPr>
                        <a:t>기능 설명</a:t>
                      </a:r>
                      <a:endParaRPr lang="ko-KR" altLang="en-US" b="1" dirty="0">
                        <a:solidFill>
                          <a:schemeClr val="bg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A401"/>
                    </a:solidFill>
                  </a:tcPr>
                </a:tc>
                <a:tc>
                  <a:txBody>
                    <a:bodyPr wrap="square"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sz="1100">
                          <a:solidFill>
                            <a:srgbClr val="1F2326"/>
                          </a:solidFill>
                        </a:rPr>
                        <a:t>목적지가 아닌 길을 선택. 홈 지도에 국도 51선 전체 표시</a:t>
                      </a:r>
                      <a:endParaRPr lang="ko-KR" altLang="en-US" b="0" dirty="0" smtClean="0">
                        <a:solidFill>
                          <a:schemeClr val="tx1"/>
                        </a:solidFill>
                      </a:endParaRPr>
                    </a:p>
                    <a:p>
                      <a:pPr algn="l"/>
                      <a:r>
                        <a:rPr sz="1100">
                          <a:solidFill>
                            <a:srgbClr val="1F2326"/>
                          </a:solidFill>
                        </a:rPr>
                        <a:t>방향만 정하면 출발. 길안내는 티맵·애플 지도로 연결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502682219"/>
                  </a:ext>
                </a:extLst>
              </a:tr>
            </a:tbl>
          </a:graphicData>
        </a:graphic>
      </p:graphicFrame>
      <p:pic>
        <p:nvPicPr>
          <p:cNvPr id="16" name="Picture 15" descr="1_hom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19128" y="2333623"/>
            <a:ext cx="1224223" cy="2659904"/>
          </a:xfrm>
          <a:prstGeom prst="rect">
            <a:avLst/>
          </a:prstGeom>
        </p:spPr>
      </p:pic>
      <p:pic>
        <p:nvPicPr>
          <p:cNvPr id="17" name="Picture 16" descr="home_expan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975705" y="2333623"/>
            <a:ext cx="1224223" cy="2659904"/>
          </a:xfrm>
          <a:prstGeom prst="rect">
            <a:avLst/>
          </a:prstGeom>
        </p:spPr>
      </p:pic>
      <p:pic>
        <p:nvPicPr>
          <p:cNvPr id="18" name="Picture 17" descr="2_depart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832282" y="2333623"/>
            <a:ext cx="1224223" cy="2659904"/>
          </a:xfrm>
          <a:prstGeom prst="rect">
            <a:avLst/>
          </a:prstGeom>
        </p:spPr>
      </p:pic>
      <p:pic>
        <p:nvPicPr>
          <p:cNvPr id="19" name="Picture 18" descr="handoff-t16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688859" y="2333623"/>
            <a:ext cx="1224223" cy="265990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719406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/>
          <p:cNvSpPr txBox="1"/>
          <p:nvPr/>
        </p:nvSpPr>
        <p:spPr>
          <a:xfrm>
            <a:off x="174567" y="1101012"/>
            <a:ext cx="4770658" cy="307777"/>
          </a:xfrm>
          <a:prstGeom prst="rect">
            <a:avLst/>
          </a:prstGeom>
          <a:solidFill>
            <a:srgbClr val="FF6F00"/>
          </a:solidFill>
        </p:spPr>
        <p:txBody>
          <a:bodyPr wrap="square" rtlCol="0">
            <a:spAutoFit/>
          </a:bodyPr>
          <a:lstStyle/>
          <a:p>
            <a:pPr algn="ctr"/>
            <a:r>
              <a:rPr lang="ko-KR" altLang="en-US" sz="1400" b="1" dirty="0" smtClean="0">
                <a:solidFill>
                  <a:schemeClr val="bg1"/>
                </a:solidFill>
              </a:rPr>
              <a:t>서비스 개발에 활용한 한국관광공사 </a:t>
            </a:r>
            <a:r>
              <a:rPr lang="en-US" altLang="ko-KR" sz="1400" b="1" dirty="0" smtClean="0">
                <a:solidFill>
                  <a:schemeClr val="bg1"/>
                </a:solidFill>
              </a:rPr>
              <a:t>OpenAPI </a:t>
            </a:r>
            <a:r>
              <a:rPr lang="ko-KR" altLang="en-US" sz="1400" b="1" dirty="0" smtClean="0">
                <a:solidFill>
                  <a:schemeClr val="bg1"/>
                </a:solidFill>
              </a:rPr>
              <a:t>리스트</a:t>
            </a:r>
            <a:endParaRPr lang="ko-KR" altLang="en-US" sz="1400" b="1" dirty="0">
              <a:solidFill>
                <a:schemeClr val="bg1"/>
              </a:solidFill>
            </a:endParaRPr>
          </a:p>
        </p:txBody>
      </p:sp>
      <p:graphicFrame>
        <p:nvGraphicFramePr>
          <p:cNvPr id="7" name="표 6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226638178"/>
              </p:ext>
            </p:extLst>
          </p:nvPr>
        </p:nvGraphicFramePr>
        <p:xfrm>
          <a:off x="174566" y="1646098"/>
          <a:ext cx="11628657" cy="37896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21150">
                  <a:extLst>
                    <a:ext uri="{9D8B030D-6E8A-4147-A177-3AD203B41FA5}">
                      <a16:colId xmlns:a16="http://schemas.microsoft.com/office/drawing/2014/main" val="842166946"/>
                    </a:ext>
                  </a:extLst>
                </a:gridCol>
                <a:gridCol w="1816388">
                  <a:extLst>
                    <a:ext uri="{9D8B030D-6E8A-4147-A177-3AD203B41FA5}">
                      <a16:colId xmlns:a16="http://schemas.microsoft.com/office/drawing/2014/main" val="3903607114"/>
                    </a:ext>
                  </a:extLst>
                </a:gridCol>
                <a:gridCol w="8991119">
                  <a:extLst>
                    <a:ext uri="{9D8B030D-6E8A-4147-A177-3AD203B41FA5}">
                      <a16:colId xmlns:a16="http://schemas.microsoft.com/office/drawing/2014/main" val="2519424337"/>
                    </a:ext>
                  </a:extLst>
                </a:gridCol>
              </a:tblGrid>
              <a:tr h="370840">
                <a:tc rowSpan="2">
                  <a:txBody>
                    <a:bodyPr/>
                    <a:lstStyle/>
                    <a:p>
                      <a:pPr algn="ctr" latinLnBrk="1"/>
                      <a:r>
                        <a:rPr lang="en-US" altLang="ko-KR" sz="3200" b="1" dirty="0" smtClean="0">
                          <a:solidFill>
                            <a:schemeClr val="tx1"/>
                          </a:solidFill>
                        </a:rPr>
                        <a:t>1</a:t>
                      </a:r>
                      <a:endParaRPr lang="ko-KR" altLang="en-US" sz="3200" b="1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b="1" dirty="0" smtClean="0">
                          <a:solidFill>
                            <a:schemeClr val="bg1"/>
                          </a:solidFill>
                        </a:rPr>
                        <a:t>API</a:t>
                      </a:r>
                      <a:r>
                        <a:rPr lang="ko-KR" altLang="en-US" b="1" dirty="0" smtClean="0">
                          <a:solidFill>
                            <a:schemeClr val="bg1"/>
                          </a:solidFill>
                        </a:rPr>
                        <a:t>명</a:t>
                      </a:r>
                      <a:endParaRPr lang="ko-KR" altLang="en-US" b="1" dirty="0">
                        <a:solidFill>
                          <a:schemeClr val="bg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A401"/>
                    </a:solidFill>
                  </a:tcPr>
                </a:tc>
                <a:tc>
                  <a:txBody>
                    <a:bodyPr wrap="square"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sz="1100" b="1">
                          <a:solidFill>
                            <a:srgbClr val="1F2326"/>
                          </a:solidFill>
                        </a:rPr>
                        <a:t>한국관광공사 국문 관광정보 서비스(KorService2) — 지역기반 관광정보 조회 areaBasedList2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377720883"/>
                  </a:ext>
                </a:extLst>
              </a:tr>
              <a:tr h="370840">
                <a:tc vMerge="1">
                  <a:txBody>
                    <a:bodyPr/>
                    <a:lstStyle/>
                    <a:p>
                      <a:pPr latinLnBrk="1"/>
                      <a:endParaRPr lang="ko-KR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b="1" dirty="0" smtClean="0">
                          <a:solidFill>
                            <a:schemeClr val="bg1"/>
                          </a:solidFill>
                        </a:rPr>
                        <a:t>상세설명</a:t>
                      </a:r>
                      <a:endParaRPr lang="ko-KR" altLang="en-US" b="1" dirty="0">
                        <a:solidFill>
                          <a:schemeClr val="bg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A401"/>
                    </a:solidFill>
                  </a:tcPr>
                </a:tc>
                <a:tc>
                  <a:txBody>
                    <a:bodyPr wrap="square"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sz="1000">
                          <a:solidFill>
                            <a:srgbClr val="1F2326"/>
                          </a:solidFill>
                        </a:rPr>
                        <a:t>전국 관광지·음식점·문화시설·쇼핑(5일장·상설시장) 목록을 시군구 단위로 수집</a:t>
                      </a:r>
                    </a:p>
                    <a:p>
                      <a:pPr algn="l"/>
                      <a:r>
                        <a:rPr sz="1000">
                          <a:solidFill>
                            <a:srgbClr val="1F2326"/>
                          </a:solidFill>
                        </a:rPr>
                        <a:t>국도 51선 선형 반경 회랑 내 스팟만 적재(19,957건) → 레이더·발견 카드의 후보 데이터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7522436"/>
                  </a:ext>
                </a:extLst>
              </a:tr>
              <a:tr h="381000">
                <a:tc rowSpan="2">
                  <a:txBody>
                    <a:bodyPr/>
                    <a:lstStyle/>
                    <a:p>
                      <a:pPr algn="ctr" latinLnBrk="1"/>
                      <a:r>
                        <a:rPr lang="en-US" altLang="ko-KR" sz="3200" b="1" dirty="0" smtClean="0">
                          <a:solidFill>
                            <a:schemeClr val="tx1"/>
                          </a:solidFill>
                        </a:rPr>
                        <a:t>2</a:t>
                      </a:r>
                      <a:endParaRPr lang="ko-KR" altLang="en-US" sz="3200" b="1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b="1" dirty="0" smtClean="0">
                          <a:solidFill>
                            <a:schemeClr val="bg1"/>
                          </a:solidFill>
                        </a:rPr>
                        <a:t>API</a:t>
                      </a:r>
                      <a:r>
                        <a:rPr lang="ko-KR" altLang="en-US" b="1" dirty="0" smtClean="0">
                          <a:solidFill>
                            <a:schemeClr val="bg1"/>
                          </a:solidFill>
                        </a:rPr>
                        <a:t>명</a:t>
                      </a:r>
                      <a:endParaRPr lang="ko-KR" altLang="en-US" b="1" dirty="0">
                        <a:solidFill>
                          <a:schemeClr val="bg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A40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 latinLnBrk="1"/>
                      <a:r>
                        <a:rPr sz="1100" b="1">
                          <a:solidFill>
                            <a:srgbClr val="1F2326"/>
                          </a:solidFill>
                        </a:rPr>
                        <a:t>국문 관광정보 — 공통정보 조회 detailCommon2 · 소개정보 조회 detailIntro2</a:t>
                      </a:r>
                      <a:endParaRPr lang="ko-KR" altLang="en-US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858026807"/>
                  </a:ext>
                </a:extLst>
              </a:tr>
              <a:tr h="381000">
                <a:tc v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b="1" dirty="0" smtClean="0">
                          <a:solidFill>
                            <a:schemeClr val="bg1"/>
                          </a:solidFill>
                        </a:rPr>
                        <a:t>상세설명</a:t>
                      </a:r>
                      <a:endParaRPr lang="ko-KR" altLang="en-US" b="1" dirty="0">
                        <a:solidFill>
                          <a:schemeClr val="bg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A40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 latinLnBrk="1"/>
                      <a:r>
                        <a:rPr sz="1000">
                          <a:solidFill>
                            <a:srgbClr val="1F2326"/>
                          </a:solidFill>
                        </a:rPr>
                        <a:t>개요·영업시간·휴무일·장날·전화번호 수집 → 신뢰도 게이트(영업정보·사진 확인)의 근거</a:t>
                      </a:r>
                      <a:endParaRPr lang="ko-KR" altLang="en-US" b="0" dirty="0">
                        <a:solidFill>
                          <a:schemeClr val="tx1"/>
                        </a:solidFill>
                      </a:endParaRPr>
                    </a:p>
                    <a:p>
                      <a:pPr algn="l"/>
                      <a:r>
                        <a:rPr sz="1000">
                          <a:solidFill>
                            <a:srgbClr val="1F2326"/>
                          </a:solidFill>
                        </a:rPr>
                        <a:t>카드 본문 생성 (예: 「3·8일에만 서는 장이라, 다음 장은 5일 뒤예요」)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33851369"/>
                  </a:ext>
                </a:extLst>
              </a:tr>
              <a:tr h="381000">
                <a:tc rowSpan="2">
                  <a:txBody>
                    <a:bodyPr/>
                    <a:lstStyle/>
                    <a:p>
                      <a:pPr algn="ctr" latinLnBrk="1"/>
                      <a:r>
                        <a:rPr lang="en-US" altLang="ko-KR" sz="3200" b="1" dirty="0" smtClean="0">
                          <a:solidFill>
                            <a:schemeClr val="tx1"/>
                          </a:solidFill>
                        </a:rPr>
                        <a:t>3</a:t>
                      </a:r>
                      <a:endParaRPr lang="ko-KR" altLang="en-US" sz="3200" b="1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b="1" dirty="0" smtClean="0">
                          <a:solidFill>
                            <a:schemeClr val="bg1"/>
                          </a:solidFill>
                        </a:rPr>
                        <a:t>API</a:t>
                      </a:r>
                      <a:r>
                        <a:rPr lang="ko-KR" altLang="en-US" b="1" dirty="0" smtClean="0">
                          <a:solidFill>
                            <a:schemeClr val="bg1"/>
                          </a:solidFill>
                        </a:rPr>
                        <a:t>명</a:t>
                      </a:r>
                      <a:endParaRPr lang="ko-KR" altLang="en-US" b="1" dirty="0">
                        <a:solidFill>
                          <a:schemeClr val="bg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A40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 latinLnBrk="1"/>
                      <a:r>
                        <a:rPr sz="1100" b="1">
                          <a:solidFill>
                            <a:srgbClr val="1F2326"/>
                          </a:solidFill>
                        </a:rPr>
                        <a:t>국문 관광정보 — 이미지정보 조회 detailImage2</a:t>
                      </a:r>
                      <a:endParaRPr lang="ko-KR" altLang="en-US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087554315"/>
                  </a:ext>
                </a:extLst>
              </a:tr>
              <a:tr h="381000">
                <a:tc vMerge="1">
                  <a:txBody>
                    <a:bodyPr/>
                    <a:lstStyle/>
                    <a:p>
                      <a:pPr algn="ctr" latinLnBrk="1"/>
                      <a:endParaRPr lang="ko-KR" altLang="en-US" sz="3200" b="1" dirty="0">
                        <a:solidFill>
                          <a:schemeClr val="bg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b="1" dirty="0" smtClean="0">
                          <a:solidFill>
                            <a:schemeClr val="bg1"/>
                          </a:solidFill>
                        </a:rPr>
                        <a:t>상세설명</a:t>
                      </a:r>
                      <a:endParaRPr lang="ko-KR" altLang="en-US" b="1" dirty="0">
                        <a:solidFill>
                          <a:schemeClr val="bg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A40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 latinLnBrk="1"/>
                      <a:r>
                        <a:rPr sz="1000">
                          <a:solidFill>
                            <a:srgbClr val="1F2326"/>
                          </a:solidFill>
                        </a:rPr>
                        <a:t>관광공사 사진을 전면 카드·스팟 상세·「오늘 들른 곳」 자취에 원본 그대로(워터마크 포함) 사용</a:t>
                      </a:r>
                      <a:endParaRPr lang="ko-KR" altLang="en-US" b="0" dirty="0">
                        <a:solidFill>
                          <a:schemeClr val="tx1"/>
                        </a:solidFill>
                      </a:endParaRPr>
                    </a:p>
                    <a:p>
                      <a:pPr algn="l"/>
                      <a:r>
                        <a:rPr sz="1000">
                          <a:solidFill>
                            <a:srgbClr val="1F2326"/>
                          </a:solidFill>
                        </a:rPr>
                        <a:t>사진이 없는 스팟은 카드로 노출하지 않음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090228473"/>
                  </a:ext>
                </a:extLst>
              </a:tr>
              <a:tr h="381000">
                <a:tc rowSpan="2">
                  <a:txBody>
                    <a:bodyPr/>
                    <a:lstStyle/>
                    <a:p>
                      <a:pPr algn="ctr" latinLnBrk="1"/>
                      <a:r>
                        <a:rPr lang="en-US" altLang="ko-KR" sz="3200" b="1" dirty="0" smtClean="0">
                          <a:solidFill>
                            <a:schemeClr val="tx1"/>
                          </a:solidFill>
                        </a:rPr>
                        <a:t>4</a:t>
                      </a:r>
                      <a:endParaRPr lang="ko-KR" altLang="en-US" sz="3200" b="1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b="1" dirty="0" smtClean="0">
                          <a:solidFill>
                            <a:schemeClr val="bg1"/>
                          </a:solidFill>
                        </a:rPr>
                        <a:t>API</a:t>
                      </a:r>
                      <a:r>
                        <a:rPr lang="ko-KR" altLang="en-US" b="1" dirty="0" smtClean="0">
                          <a:solidFill>
                            <a:schemeClr val="bg1"/>
                          </a:solidFill>
                        </a:rPr>
                        <a:t>명</a:t>
                      </a:r>
                      <a:endParaRPr lang="ko-KR" altLang="en-US" b="1" dirty="0">
                        <a:solidFill>
                          <a:schemeClr val="bg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A40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 latinLnBrk="1"/>
                      <a:r>
                        <a:rPr sz="1100" b="1">
                          <a:solidFill>
                            <a:srgbClr val="1F2326"/>
                          </a:solidFill>
                        </a:rPr>
                        <a:t>국문 관광정보 — 법정동코드 조회 ldongCode2 · 위치기반 관광정보 조회 locationBasedList2</a:t>
                      </a:r>
                      <a:endParaRPr lang="ko-KR" altLang="en-US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529229970"/>
                  </a:ext>
                </a:extLst>
              </a:tr>
              <a:tr h="381000">
                <a:tc vMerge="1">
                  <a:txBody>
                    <a:bodyPr/>
                    <a:lstStyle/>
                    <a:p>
                      <a:pPr algn="ctr" latinLnBrk="1"/>
                      <a:endParaRPr lang="ko-KR" altLang="en-US" sz="3200" b="1" dirty="0">
                        <a:solidFill>
                          <a:schemeClr val="bg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b="1" dirty="0" smtClean="0">
                          <a:solidFill>
                            <a:schemeClr val="bg1"/>
                          </a:solidFill>
                        </a:rPr>
                        <a:t>상세설명</a:t>
                      </a:r>
                      <a:endParaRPr lang="ko-KR" altLang="en-US" b="1" dirty="0">
                        <a:solidFill>
                          <a:schemeClr val="bg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A40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 latinLnBrk="1"/>
                      <a:r>
                        <a:rPr sz="1000">
                          <a:solidFill>
                            <a:srgbClr val="1F2326"/>
                          </a:solidFill>
                        </a:rPr>
                        <a:t>시군구 코드 순회 수집과 연관 관광지 이름 매칭의 지역 키</a:t>
                      </a:r>
                      <a:endParaRPr lang="ko-KR" altLang="en-US" b="0" dirty="0">
                        <a:solidFill>
                          <a:schemeClr val="tx1"/>
                        </a:solidFill>
                      </a:endParaRPr>
                    </a:p>
                    <a:p>
                      <a:pPr algn="l"/>
                      <a:r>
                        <a:rPr sz="1000">
                          <a:solidFill>
                            <a:srgbClr val="1F2326"/>
                          </a:solidFill>
                        </a:rPr>
                        <a:t>위치기반 조회는 회랑 보강·검증에 활용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167204627"/>
                  </a:ext>
                </a:extLst>
              </a:tr>
              <a:tr h="381000">
                <a:tc rowSpan="2">
                  <a:txBody>
                    <a:bodyPr/>
                    <a:lstStyle/>
                    <a:p>
                      <a:pPr algn="ctr" latinLnBrk="1"/>
                      <a:r>
                        <a:rPr lang="en-US" altLang="ko-KR" sz="3200" b="1" dirty="0" smtClean="0">
                          <a:solidFill>
                            <a:schemeClr val="tx1"/>
                          </a:solidFill>
                        </a:rPr>
                        <a:t>5</a:t>
                      </a:r>
                      <a:endParaRPr lang="ko-KR" altLang="en-US" sz="3200" b="1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b="1" dirty="0" smtClean="0">
                          <a:solidFill>
                            <a:schemeClr val="bg1"/>
                          </a:solidFill>
                        </a:rPr>
                        <a:t>API</a:t>
                      </a:r>
                      <a:r>
                        <a:rPr lang="ko-KR" altLang="en-US" b="1" dirty="0" smtClean="0">
                          <a:solidFill>
                            <a:schemeClr val="bg1"/>
                          </a:solidFill>
                        </a:rPr>
                        <a:t>명</a:t>
                      </a:r>
                      <a:endParaRPr lang="ko-KR" altLang="en-US" b="1" dirty="0">
                        <a:solidFill>
                          <a:schemeClr val="bg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A40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 latinLnBrk="1"/>
                      <a:r>
                        <a:rPr sz="1100" b="1">
                          <a:solidFill>
                            <a:srgbClr val="1F2326"/>
                          </a:solidFill>
                        </a:rPr>
                        <a:t>관광지별 연관 관광지 정보 서비스(TarRlteTarService1) — areaBasedList1 (baseYm 지정)</a:t>
                      </a:r>
                      <a:endParaRPr lang="ko-KR" altLang="en-US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638013552"/>
                  </a:ext>
                </a:extLst>
              </a:tr>
              <a:tr h="381000">
                <a:tc vMerge="1">
                  <a:txBody>
                    <a:bodyPr/>
                    <a:lstStyle/>
                    <a:p>
                      <a:pPr algn="ctr" latinLnBrk="1"/>
                      <a:endParaRPr lang="ko-KR" altLang="en-US" sz="3200" b="1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b="1" dirty="0" smtClean="0">
                          <a:solidFill>
                            <a:schemeClr val="bg1"/>
                          </a:solidFill>
                        </a:rPr>
                        <a:t>상세설명</a:t>
                      </a:r>
                      <a:endParaRPr lang="ko-KR" altLang="en-US" b="1" dirty="0">
                        <a:solidFill>
                          <a:schemeClr val="bg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A40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 latinLnBrk="1"/>
                      <a:r>
                        <a:rPr sz="1000">
                          <a:solidFill>
                            <a:srgbClr val="1F2326"/>
                          </a:solidFill>
                        </a:rPr>
                        <a:t>기준연월 두 시점(예: 202603·202606)을 비교해 "요즘 더 가는 곳"의 변화율 산출</a:t>
                      </a:r>
                      <a:endParaRPr lang="ko-KR" altLang="en-US" b="0" dirty="0">
                        <a:solidFill>
                          <a:schemeClr val="tx1"/>
                        </a:solidFill>
                      </a:endParaRPr>
                    </a:p>
                    <a:p>
                      <a:pPr algn="l"/>
                      <a:r>
                        <a:rPr sz="1000">
                          <a:solidFill>
                            <a:srgbClr val="1F2326"/>
                          </a:solidFill>
                        </a:rPr>
                        <a:t>노선 큐레이션(「요즘 이 길에 발길이 늘었어요」)과 「들른 차들은 다음에 ○○로 갔어요」의 근거</a:t>
                      </a:r>
                    </a:p>
                    <a:p>
                      <a:pPr algn="l"/>
                      <a:r>
                        <a:rPr sz="1000">
                          <a:solidFill>
                            <a:srgbClr val="1F2326"/>
                          </a:solidFill>
                        </a:rPr>
                        <a:t>두 시점이 없는 노선은 해당 월 연관 순위로 보조하되 문구 구분(「이 길로 다녀간 사람이 많아요」). 별점·후기 미사용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993688541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222947038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/>
          <p:cNvSpPr txBox="1"/>
          <p:nvPr/>
        </p:nvSpPr>
        <p:spPr>
          <a:xfrm>
            <a:off x="174567" y="1101012"/>
            <a:ext cx="3893580" cy="307777"/>
          </a:xfrm>
          <a:prstGeom prst="rect">
            <a:avLst/>
          </a:prstGeom>
          <a:solidFill>
            <a:srgbClr val="FF6F00"/>
          </a:solidFill>
        </p:spPr>
        <p:txBody>
          <a:bodyPr wrap="square" rtlCol="0">
            <a:spAutoFit/>
          </a:bodyPr>
          <a:lstStyle/>
          <a:p>
            <a:pPr algn="ctr"/>
            <a:r>
              <a:rPr lang="ko-KR" altLang="en-US" sz="1400" b="1" dirty="0" smtClean="0">
                <a:solidFill>
                  <a:schemeClr val="bg1"/>
                </a:solidFill>
              </a:rPr>
              <a:t>서비스 개발에 활용한 기타 </a:t>
            </a:r>
            <a:r>
              <a:rPr lang="en-US" altLang="ko-KR" sz="1400" b="1" dirty="0" smtClean="0">
                <a:solidFill>
                  <a:schemeClr val="bg1"/>
                </a:solidFill>
              </a:rPr>
              <a:t>API, </a:t>
            </a:r>
            <a:r>
              <a:rPr lang="ko-KR" altLang="en-US" sz="1400" b="1" dirty="0" err="1" smtClean="0">
                <a:solidFill>
                  <a:schemeClr val="bg1"/>
                </a:solidFill>
              </a:rPr>
              <a:t>파일데이터</a:t>
            </a:r>
            <a:endParaRPr lang="ko-KR" altLang="en-US" sz="1400" b="1" dirty="0">
              <a:solidFill>
                <a:schemeClr val="bg1"/>
              </a:solidFill>
            </a:endParaRPr>
          </a:p>
        </p:txBody>
      </p:sp>
      <p:graphicFrame>
        <p:nvGraphicFramePr>
          <p:cNvPr id="7" name="표 6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310626099"/>
              </p:ext>
            </p:extLst>
          </p:nvPr>
        </p:nvGraphicFramePr>
        <p:xfrm>
          <a:off x="174566" y="1646098"/>
          <a:ext cx="11628657" cy="22656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21150">
                  <a:extLst>
                    <a:ext uri="{9D8B030D-6E8A-4147-A177-3AD203B41FA5}">
                      <a16:colId xmlns:a16="http://schemas.microsoft.com/office/drawing/2014/main" val="842166946"/>
                    </a:ext>
                  </a:extLst>
                </a:gridCol>
                <a:gridCol w="1816388">
                  <a:extLst>
                    <a:ext uri="{9D8B030D-6E8A-4147-A177-3AD203B41FA5}">
                      <a16:colId xmlns:a16="http://schemas.microsoft.com/office/drawing/2014/main" val="3903607114"/>
                    </a:ext>
                  </a:extLst>
                </a:gridCol>
                <a:gridCol w="8991119">
                  <a:extLst>
                    <a:ext uri="{9D8B030D-6E8A-4147-A177-3AD203B41FA5}">
                      <a16:colId xmlns:a16="http://schemas.microsoft.com/office/drawing/2014/main" val="2519424337"/>
                    </a:ext>
                  </a:extLst>
                </a:gridCol>
              </a:tblGrid>
              <a:tr h="370840">
                <a:tc rowSpan="2">
                  <a:txBody>
                    <a:bodyPr/>
                    <a:lstStyle/>
                    <a:p>
                      <a:pPr algn="ctr" latinLnBrk="1"/>
                      <a:r>
                        <a:rPr lang="en-US" altLang="ko-KR" sz="3200" b="1" dirty="0" smtClean="0">
                          <a:solidFill>
                            <a:schemeClr val="tx1"/>
                          </a:solidFill>
                        </a:rPr>
                        <a:t>1</a:t>
                      </a:r>
                      <a:endParaRPr lang="ko-KR" altLang="en-US" sz="3200" b="1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b="1" dirty="0" err="1" smtClean="0">
                          <a:solidFill>
                            <a:schemeClr val="bg1"/>
                          </a:solidFill>
                        </a:rPr>
                        <a:t>데이터명</a:t>
                      </a:r>
                      <a:endParaRPr lang="ko-KR" altLang="en-US" b="1" dirty="0">
                        <a:solidFill>
                          <a:schemeClr val="bg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A401"/>
                    </a:solidFill>
                  </a:tcPr>
                </a:tc>
                <a:tc>
                  <a:txBody>
                    <a:bodyPr wrap="square"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sz="1100" b="1">
                          <a:solidFill>
                            <a:srgbClr val="1F2326"/>
                          </a:solidFill>
                        </a:rPr>
                        <a:t>한국천문연구원 출몰시각 정보 OpenAPI (RiseSetInfoService)</a:t>
                      </a:r>
                      <a:endParaRPr lang="ko-KR" altLang="en-US" b="0" dirty="0" smtClean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377720883"/>
                  </a:ext>
                </a:extLst>
              </a:tr>
              <a:tr h="370840">
                <a:tc vMerge="1">
                  <a:txBody>
                    <a:bodyPr/>
                    <a:lstStyle/>
                    <a:p>
                      <a:pPr latinLnBrk="1"/>
                      <a:endParaRPr lang="ko-KR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b="1" dirty="0" smtClean="0">
                          <a:solidFill>
                            <a:schemeClr val="bg1"/>
                          </a:solidFill>
                        </a:rPr>
                        <a:t>상세설명</a:t>
                      </a:r>
                      <a:endParaRPr lang="ko-KR" altLang="en-US" b="1" dirty="0">
                        <a:solidFill>
                          <a:schemeClr val="bg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A401"/>
                    </a:solidFill>
                  </a:tcPr>
                </a:tc>
                <a:tc>
                  <a:txBody>
                    <a:bodyPr wrap="square"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sz="1000">
                          <a:solidFill>
                            <a:srgbClr val="1F2326"/>
                          </a:solidFill>
                        </a:rPr>
                        <a:t>전망 스팟이 있는 0.1° 격자 × 30일의 일몰 시각을 사전 캐시</a:t>
                      </a:r>
                      <a:endParaRPr lang="ko-KR" altLang="en-US" b="0" dirty="0" smtClean="0">
                        <a:solidFill>
                          <a:schemeClr val="tx1"/>
                        </a:solidFill>
                      </a:endParaRPr>
                    </a:p>
                    <a:p>
                      <a:pPr algn="l"/>
                      <a:r>
                        <a:rPr sz="1000">
                          <a:solidFill>
                            <a:srgbClr val="1F2326"/>
                          </a:solidFill>
                        </a:rPr>
                        <a:t>일몰 40분 전 뷰포인트 카드·알림(「곧 추암 촛대바위에 해가 져요」)의 기준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7522436"/>
                  </a:ext>
                </a:extLst>
              </a:tr>
              <a:tr h="381000">
                <a:tc rowSpan="2">
                  <a:txBody>
                    <a:bodyPr/>
                    <a:lstStyle/>
                    <a:p>
                      <a:pPr algn="ctr" latinLnBrk="1"/>
                      <a:r>
                        <a:rPr lang="en-US" altLang="ko-KR" sz="3200" b="1" dirty="0" smtClean="0">
                          <a:solidFill>
                            <a:schemeClr val="tx1"/>
                          </a:solidFill>
                        </a:rPr>
                        <a:t>2</a:t>
                      </a:r>
                      <a:endParaRPr lang="ko-KR" altLang="en-US" sz="3200" b="1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b="1" dirty="0" err="1" smtClean="0">
                          <a:solidFill>
                            <a:schemeClr val="bg1"/>
                          </a:solidFill>
                        </a:rPr>
                        <a:t>데이터명</a:t>
                      </a:r>
                      <a:endParaRPr lang="ko-KR" altLang="en-US" b="1" dirty="0">
                        <a:solidFill>
                          <a:schemeClr val="bg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A40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 latinLnBrk="1"/>
                      <a:r>
                        <a:rPr sz="1100" b="1">
                          <a:solidFill>
                            <a:srgbClr val="1F2326"/>
                          </a:solidFill>
                        </a:rPr>
                        <a:t>소상공인시장진흥공단 전국전통시장표준데이터 (파일, CSV)</a:t>
                      </a:r>
                      <a:endParaRPr lang="ko-KR" altLang="en-US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858026807"/>
                  </a:ext>
                </a:extLst>
              </a:tr>
              <a:tr h="381000">
                <a:tc v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b="1" dirty="0" smtClean="0">
                          <a:solidFill>
                            <a:schemeClr val="bg1"/>
                          </a:solidFill>
                        </a:rPr>
                        <a:t>상세설명</a:t>
                      </a:r>
                      <a:endParaRPr lang="ko-KR" altLang="en-US" b="1" dirty="0">
                        <a:solidFill>
                          <a:schemeClr val="bg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A40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 latinLnBrk="1"/>
                      <a:r>
                        <a:rPr sz="1000">
                          <a:solidFill>
                            <a:srgbClr val="1F2326"/>
                          </a:solidFill>
                        </a:rPr>
                        <a:t>장날(3·8일 등)을 관광공사 시장 스팟에 결합 → 「오늘이 마침 장날」 카드와 다음 장 안내</a:t>
                      </a:r>
                      <a:endParaRPr lang="ko-KR" altLang="en-US" b="0" dirty="0">
                        <a:solidFill>
                          <a:schemeClr val="tx1"/>
                        </a:solidFill>
                      </a:endParaRPr>
                    </a:p>
                    <a:p>
                      <a:pPr algn="l"/>
                      <a:r>
                        <a:rPr sz="1000">
                          <a:solidFill>
                            <a:srgbClr val="1F2326"/>
                          </a:solidFill>
                        </a:rPr>
                        <a:t>사진·개요가 있는 관광공사 스팟에만 결합 (신규 스팟 생성 없음)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33851369"/>
                  </a:ext>
                </a:extLst>
              </a:tr>
              <a:tr h="381000">
                <a:tc rowSpan="2">
                  <a:txBody>
                    <a:bodyPr/>
                    <a:lstStyle/>
                    <a:p>
                      <a:pPr algn="ctr" latinLnBrk="1"/>
                      <a:r>
                        <a:rPr lang="en-US" altLang="ko-KR" sz="3200" b="1" dirty="0" smtClean="0">
                          <a:solidFill>
                            <a:schemeClr val="tx1"/>
                          </a:solidFill>
                        </a:rPr>
                        <a:t>3</a:t>
                      </a:r>
                      <a:endParaRPr lang="ko-KR" altLang="en-US" sz="3200" b="1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b="1" dirty="0" err="1" smtClean="0">
                          <a:solidFill>
                            <a:schemeClr val="bg1"/>
                          </a:solidFill>
                        </a:rPr>
                        <a:t>데이터명</a:t>
                      </a:r>
                      <a:endParaRPr lang="ko-KR" altLang="en-US" b="1" dirty="0">
                        <a:solidFill>
                          <a:schemeClr val="bg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A40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 latinLnBrk="1"/>
                      <a:r>
                        <a:rPr sz="1100" b="1">
                          <a:solidFill>
                            <a:srgbClr val="1F2326"/>
                          </a:solidFill>
                        </a:rPr>
                        <a:t>국토교통부 일반국도 도로중심선 (파일, SHP)</a:t>
                      </a:r>
                      <a:endParaRPr lang="ko-KR" altLang="en-US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087554315"/>
                  </a:ext>
                </a:extLst>
              </a:tr>
              <a:tr h="381000">
                <a:tc vMerge="1">
                  <a:txBody>
                    <a:bodyPr/>
                    <a:lstStyle/>
                    <a:p>
                      <a:pPr algn="ctr" latinLnBrk="1"/>
                      <a:endParaRPr lang="ko-KR" altLang="en-US" sz="3200" b="1" dirty="0">
                        <a:solidFill>
                          <a:schemeClr val="bg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b="1" dirty="0" smtClean="0">
                          <a:solidFill>
                            <a:schemeClr val="bg1"/>
                          </a:solidFill>
                        </a:rPr>
                        <a:t>상세설명</a:t>
                      </a:r>
                      <a:endParaRPr lang="ko-KR" altLang="en-US" b="1" dirty="0">
                        <a:solidFill>
                          <a:schemeClr val="bg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A40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 latinLnBrk="1"/>
                      <a:r>
                        <a:rPr sz="1000">
                          <a:solidFill>
                            <a:srgbClr val="1F2326"/>
                          </a:solidFill>
                        </a:rPr>
                        <a:t>국도 51선 선형 → 홈 지도 폴리라인, 회랑 판정(스팟 적재 기준), 진출점 계산</a:t>
                      </a:r>
                      <a:endParaRPr lang="ko-KR" altLang="en-US" b="0" dirty="0">
                        <a:solidFill>
                          <a:schemeClr val="tx1"/>
                        </a:solidFill>
                      </a:endParaRPr>
                    </a:p>
                    <a:p>
                      <a:pPr algn="l"/>
                      <a:r>
                        <a:rPr sz="1000">
                          <a:solidFill>
                            <a:srgbClr val="1F2326"/>
                          </a:solidFill>
                        </a:rPr>
                        <a:t>여행기의 국도 51선 수집(지나온 점 맵매칭)에 활용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090228473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177356487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3" name="표 2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048382877"/>
              </p:ext>
            </p:extLst>
          </p:nvPr>
        </p:nvGraphicFramePr>
        <p:xfrm>
          <a:off x="287250" y="1218429"/>
          <a:ext cx="11649825" cy="507430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55222">
                  <a:extLst>
                    <a:ext uri="{9D8B030D-6E8A-4147-A177-3AD203B41FA5}">
                      <a16:colId xmlns:a16="http://schemas.microsoft.com/office/drawing/2014/main" val="1299753452"/>
                    </a:ext>
                  </a:extLst>
                </a:gridCol>
                <a:gridCol w="9694603">
                  <a:extLst>
                    <a:ext uri="{9D8B030D-6E8A-4147-A177-3AD203B41FA5}">
                      <a16:colId xmlns:a16="http://schemas.microsoft.com/office/drawing/2014/main" val="3999346814"/>
                    </a:ext>
                  </a:extLst>
                </a:gridCol>
              </a:tblGrid>
              <a:tr h="2466075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b="1" dirty="0" smtClean="0">
                          <a:solidFill>
                            <a:schemeClr val="bg1"/>
                          </a:solidFill>
                        </a:rPr>
                        <a:t>차별성</a:t>
                      </a:r>
                      <a:endParaRPr lang="en-US" altLang="ko-KR" b="1" dirty="0" smtClean="0">
                        <a:solidFill>
                          <a:schemeClr val="bg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6F00"/>
                    </a:solidFill>
                  </a:tcPr>
                </a:tc>
                <a:tc>
                  <a:txBody>
                    <a:bodyPr wrap="square"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1050" b="1">
                          <a:solidFill>
                            <a:srgbClr val="1F2326"/>
                          </a:solidFill>
                        </a:rPr>
                        <a:t>• 즉흥 여행 트렌드의 제품화</a:t>
                      </a:r>
                      <a:endParaRPr lang="en-US" altLang="ko-KR" sz="1800" b="0" dirty="0" smtClean="0">
                        <a:solidFill>
                          <a:srgbClr val="FF0000"/>
                        </a:solidFill>
                        <a:latin typeface="+mn-lt"/>
                      </a:endParaRPr>
                    </a:p>
                    <a:p>
                      <a:pPr algn="l" marL="201168" indent="-128016"/>
                      <a:r>
                        <a:rPr sz="1000">
                          <a:solidFill>
                            <a:srgbClr val="3E4347"/>
                          </a:solidFill>
                        </a:rPr>
                        <a:t>‒ 「풍향중」처럼 목적지 없이 떠나는 문화에 맞춘 앱. 즉흥은 유지하고 리스크(휴무·비장날·사진 없는 곳)만 데이터로 제거</a:t>
                      </a:r>
                    </a:p>
                    <a:p>
                      <a:pPr algn="l">
                        <a:spcBef>
                          <a:spcPts val="200"/>
                        </a:spcBef>
                      </a:pPr>
                      <a:r>
                        <a:rPr sz="1050" b="1">
                          <a:solidFill>
                            <a:srgbClr val="1F2326"/>
                          </a:solidFill>
                        </a:rPr>
                        <a:t>• 시장에 없는 시점</a:t>
                      </a:r>
                    </a:p>
                    <a:p>
                      <a:pPr algn="l" marL="201168" indent="-128016"/>
                      <a:r>
                        <a:rPr sz="1000">
                          <a:solidFill>
                            <a:srgbClr val="3E4347"/>
                          </a:solidFill>
                        </a:rPr>
                        <a:t>‒ 출발 전 계획(여행 플랫폼)도 목적지 검색(내비)도 아닌 "주행 중" 관광정보 제공. 정보는 이동 중에</a:t>
                      </a:r>
                    </a:p>
                    <a:p>
                      <a:pPr algn="l">
                        <a:spcBef>
                          <a:spcPts val="200"/>
                        </a:spcBef>
                      </a:pPr>
                      <a:r>
                        <a:rPr sz="1050" b="1">
                          <a:solidFill>
                            <a:srgbClr val="1F2326"/>
                          </a:solidFill>
                        </a:rPr>
                        <a:t>• 관광공사 데이터의 이동 맥락 재해석</a:t>
                      </a:r>
                    </a:p>
                    <a:p>
                      <a:pPr algn="l" marL="201168" indent="-128016"/>
                      <a:r>
                        <a:rPr sz="1000">
                          <a:solidFill>
                            <a:srgbClr val="3E4347"/>
                          </a:solidFill>
                        </a:rPr>
                        <a:t>‒ 장날·일몰·축제 기간을 현재 위치·진행 방향·시각에 결합. 천문연·전통시장·국토부 데이터를 국도 선형 위에서 결합</a:t>
                      </a:r>
                    </a:p>
                    <a:p>
                      <a:pPr algn="l">
                        <a:spcBef>
                          <a:spcPts val="200"/>
                        </a:spcBef>
                      </a:pPr>
                      <a:r>
                        <a:rPr sz="1050" b="1">
                          <a:solidFill>
                            <a:srgbClr val="1F2326"/>
                          </a:solidFill>
                        </a:rPr>
                        <a:t>• 내비의 대체가 아닌 내비 위의 레이어</a:t>
                      </a:r>
                    </a:p>
                    <a:p>
                      <a:pPr algn="l" marL="201168" indent="-128016"/>
                      <a:r>
                        <a:rPr sz="1000">
                          <a:solidFill>
                            <a:srgbClr val="3E4347"/>
                          </a:solidFill>
                        </a:rPr>
                        <a:t>‒ 길안내는 티맵·애플 지도, 발견은 본 앱. 안내 중에도 「들르기」로 목적지 변경</a:t>
                      </a:r>
                    </a:p>
                    <a:p>
                      <a:pPr algn="l">
                        <a:spcBef>
                          <a:spcPts val="200"/>
                        </a:spcBef>
                      </a:pPr>
                      <a:r>
                        <a:rPr sz="1050" b="1">
                          <a:solidFill>
                            <a:srgbClr val="1F2326"/>
                          </a:solidFill>
                        </a:rPr>
                        <a:t>• 신뢰 근거의 차별화</a:t>
                      </a:r>
                    </a:p>
                    <a:p>
                      <a:pPr algn="l" marL="201168" indent="-128016"/>
                      <a:r>
                        <a:rPr sz="1000">
                          <a:solidFill>
                            <a:srgbClr val="3E4347"/>
                          </a:solidFill>
                        </a:rPr>
                        <a:t>‒ 별점·리뷰 대신 영업정보·사진 검증과 이동 흔적(연관 관광지 두 시점 변화율)</a:t>
                      </a:r>
                    </a:p>
                    <a:p>
                      <a:pPr algn="l">
                        <a:spcBef>
                          <a:spcPts val="200"/>
                        </a:spcBef>
                      </a:pPr>
                      <a:r>
                        <a:rPr sz="1050" b="1">
                          <a:solidFill>
                            <a:srgbClr val="1F2326"/>
                          </a:solidFill>
                        </a:rPr>
                        <a:t>• 자동 기록</a:t>
                      </a:r>
                    </a:p>
                    <a:p>
                      <a:pPr algn="l" marL="201168" indent="-128016"/>
                      <a:r>
                        <a:rPr sz="1000">
                          <a:solidFill>
                            <a:srgbClr val="3E4347"/>
                          </a:solidFill>
                        </a:rPr>
                        <a:t>‒ 주행 후 여행기·포스터·국도 51선 수집이 남는 앱. 계정·광고·추적 없음, 정확한 GPS 좌표는 기기 내 보관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903409156"/>
                  </a:ext>
                </a:extLst>
              </a:tr>
              <a:tr h="2608231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b="1" dirty="0" smtClean="0">
                          <a:solidFill>
                            <a:schemeClr val="bg1"/>
                          </a:solidFill>
                        </a:rPr>
                        <a:t>발전계획</a:t>
                      </a:r>
                      <a:endParaRPr lang="ko-KR" altLang="en-US" b="1" dirty="0">
                        <a:solidFill>
                          <a:schemeClr val="bg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6F00"/>
                    </a:solidFill>
                  </a:tcPr>
                </a:tc>
                <a:tc>
                  <a:txBody>
                    <a:bodyPr wrap="square"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sz="1050" b="1">
                          <a:solidFill>
                            <a:srgbClr val="1F2326"/>
                          </a:solidFill>
                        </a:rPr>
                        <a:t>• 여행기 공유 → 「남이 달린 길」</a:t>
                      </a:r>
                    </a:p>
                    <a:p>
                      <a:pPr algn="l" marL="201168" indent="-128016"/>
                      <a:r>
                        <a:rPr sz="1000">
                          <a:solidFill>
                            <a:srgbClr val="3E4347"/>
                          </a:solidFill>
                        </a:rPr>
                        <a:t>‒ 여행기 공유로 다른 사용자가 같은 길을 선택. 계정 도입으로 보관·팔로우 지원. 별점·댓글 없이 "N명이 달림 · N명이 멈춤" 흔적만</a:t>
                      </a:r>
                    </a:p>
                    <a:p>
                      <a:pPr algn="l">
                        <a:spcBef>
                          <a:spcPts val="200"/>
                        </a:spcBef>
                      </a:pPr>
                      <a:r>
                        <a:rPr sz="1050" b="1">
                          <a:solidFill>
                            <a:srgbClr val="1F2326"/>
                          </a:solidFill>
                        </a:rPr>
                        <a:t>• 사용자 정차 흔적 기반 큐레이션</a:t>
                      </a:r>
                    </a:p>
                    <a:p>
                      <a:pPr algn="l" marL="201168" indent="-128016"/>
                      <a:r>
                        <a:rPr sz="1000">
                          <a:solidFill>
                            <a:srgbClr val="3E4347"/>
                          </a:solidFill>
                        </a:rPr>
                        <a:t>‒ 익명 정차 기록으로 "실제로 멈춘 곳" 산출. 리뷰 없이 신뢰를 쌓는 장치</a:t>
                      </a:r>
                    </a:p>
                    <a:p>
                      <a:pPr algn="l">
                        <a:spcBef>
                          <a:spcPts val="200"/>
                        </a:spcBef>
                      </a:pPr>
                      <a:r>
                        <a:rPr sz="1050" b="1">
                          <a:solidFill>
                            <a:srgbClr val="1F2326"/>
                          </a:solidFill>
                        </a:rPr>
                        <a:t>• 음성 조작</a:t>
                      </a:r>
                    </a:p>
                    <a:p>
                      <a:pPr algn="l" marL="201168" indent="-128016"/>
                      <a:r>
                        <a:rPr sz="1000">
                          <a:solidFill>
                            <a:srgbClr val="3E4347"/>
                          </a:solidFill>
                        </a:rPr>
                        <a:t>‒ 카드에 음성으로 응답(찜·들르기·넘기기). 핸즈프리 레이더</a:t>
                      </a:r>
                    </a:p>
                    <a:p>
                      <a:pPr algn="l">
                        <a:spcBef>
                          <a:spcPts val="200"/>
                        </a:spcBef>
                      </a:pPr>
                      <a:r>
                        <a:rPr sz="1050" b="1">
                          <a:solidFill>
                            <a:srgbClr val="1F2326"/>
                          </a:solidFill>
                        </a:rPr>
                        <a:t>• 시간 기반 발견 확대</a:t>
                      </a:r>
                    </a:p>
                    <a:p>
                      <a:pPr algn="l" marL="201168" indent="-128016"/>
                      <a:r>
                        <a:rPr sz="1000">
                          <a:solidFill>
                            <a:srgbClr val="3E4347"/>
                          </a:solidFill>
                        </a:rPr>
                        <a:t>‒ 축제 기간(관광공사 행사정보)·야간 개장·계절 발견(단풍·벚꽃·해돋이)</a:t>
                      </a:r>
                    </a:p>
                    <a:p>
                      <a:pPr algn="l">
                        <a:spcBef>
                          <a:spcPts val="200"/>
                        </a:spcBef>
                      </a:pPr>
                      <a:r>
                        <a:rPr sz="1050" b="1">
                          <a:solidFill>
                            <a:srgbClr val="1F2326"/>
                          </a:solidFill>
                        </a:rPr>
                        <a:t>• 데이터 갱신·확장</a:t>
                      </a:r>
                    </a:p>
                    <a:p>
                      <a:pPr algn="l" marL="201168" indent="-128016"/>
                      <a:r>
                        <a:rPr sz="1000">
                          <a:solidFill>
                            <a:srgbClr val="3E4347"/>
                          </a:solidFill>
                        </a:rPr>
                        <a:t>‒ 수집 파이프라인 상시화, 농산물 직판장·로컬푸드·지역 축제로 소도시 공백 보완, 구간 코스 자동 생성</a:t>
                      </a:r>
                    </a:p>
                    <a:p>
                      <a:pPr algn="l">
                        <a:spcBef>
                          <a:spcPts val="200"/>
                        </a:spcBef>
                      </a:pPr>
                      <a:r>
                        <a:rPr sz="1050" b="1">
                          <a:solidFill>
                            <a:srgbClr val="1F2326"/>
                          </a:solidFill>
                        </a:rPr>
                        <a:t>• Android 확장</a:t>
                      </a:r>
                    </a:p>
                    <a:p>
                      <a:pPr algn="l" marL="201168" indent="-128016"/>
                      <a:r>
                        <a:rPr sz="1000">
                          <a:solidFill>
                            <a:srgbClr val="3E4347"/>
                          </a:solidFill>
                        </a:rPr>
                        <a:t>‒ 유지 중인 코드 분기를 활용한 포팅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17412154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988568962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aphicFrame>
        <p:nvGraphicFramePr>
          <p:cNvPr id="8" name="표 7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957004574"/>
              </p:ext>
            </p:extLst>
          </p:nvPr>
        </p:nvGraphicFramePr>
        <p:xfrm>
          <a:off x="302952" y="1933326"/>
          <a:ext cx="11426308" cy="460584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856577">
                  <a:extLst>
                    <a:ext uri="{9D8B030D-6E8A-4147-A177-3AD203B41FA5}">
                      <a16:colId xmlns:a16="http://schemas.microsoft.com/office/drawing/2014/main" val="956832101"/>
                    </a:ext>
                  </a:extLst>
                </a:gridCol>
                <a:gridCol w="2856577">
                  <a:extLst>
                    <a:ext uri="{9D8B030D-6E8A-4147-A177-3AD203B41FA5}">
                      <a16:colId xmlns:a16="http://schemas.microsoft.com/office/drawing/2014/main" val="2325135401"/>
                    </a:ext>
                  </a:extLst>
                </a:gridCol>
                <a:gridCol w="2856577">
                  <a:extLst>
                    <a:ext uri="{9D8B030D-6E8A-4147-A177-3AD203B41FA5}">
                      <a16:colId xmlns:a16="http://schemas.microsoft.com/office/drawing/2014/main" val="1669866357"/>
                    </a:ext>
                  </a:extLst>
                </a:gridCol>
                <a:gridCol w="2856577">
                  <a:extLst>
                    <a:ext uri="{9D8B030D-6E8A-4147-A177-3AD203B41FA5}">
                      <a16:colId xmlns:a16="http://schemas.microsoft.com/office/drawing/2014/main" val="1337599892"/>
                    </a:ext>
                  </a:extLst>
                </a:gridCol>
              </a:tblGrid>
              <a:tr h="327145">
                <a:tc gridSpan="4">
                  <a:txBody>
                    <a:bodyPr/>
                    <a:lstStyle/>
                    <a:p>
                      <a:pPr algn="ctr" latinLnBrk="1"/>
                      <a:r>
                        <a:rPr lang="ko-KR" altLang="en-US" dirty="0" smtClean="0">
                          <a:solidFill>
                            <a:schemeClr val="bg1"/>
                          </a:solidFill>
                        </a:rPr>
                        <a:t>기능</a:t>
                      </a:r>
                      <a:r>
                        <a:rPr lang="ko-KR" altLang="en-US" baseline="0" dirty="0" smtClean="0">
                          <a:solidFill>
                            <a:schemeClr val="bg1"/>
                          </a:solidFill>
                        </a:rPr>
                        <a:t> </a:t>
                      </a:r>
                      <a:r>
                        <a:rPr lang="ko-KR" altLang="en-US" dirty="0" smtClean="0">
                          <a:solidFill>
                            <a:schemeClr val="bg1"/>
                          </a:solidFill>
                        </a:rPr>
                        <a:t>흐름도</a:t>
                      </a:r>
                      <a:endParaRPr lang="ko-KR" altLang="en-US" dirty="0">
                        <a:solidFill>
                          <a:schemeClr val="bg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6F00"/>
                    </a:solidFill>
                  </a:tcPr>
                </a:tc>
                <a:tc hMerge="1">
                  <a:txBody>
                    <a:bodyPr/>
                    <a:lstStyle/>
                    <a:p>
                      <a:pPr algn="ctr" latinLnBrk="1"/>
                      <a:endParaRPr lang="ko-KR" altLang="en-US" dirty="0">
                        <a:solidFill>
                          <a:schemeClr val="bg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6F00"/>
                    </a:solidFill>
                  </a:tcPr>
                </a:tc>
                <a:tc hMerge="1">
                  <a:txBody>
                    <a:bodyPr/>
                    <a:lstStyle/>
                    <a:p>
                      <a:pPr algn="ctr" latinLnBrk="1"/>
                      <a:endParaRPr lang="ko-KR" altLang="en-US" dirty="0">
                        <a:solidFill>
                          <a:schemeClr val="bg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6F00"/>
                    </a:solidFill>
                  </a:tcPr>
                </a:tc>
                <a:tc hMerge="1">
                  <a:txBody>
                    <a:bodyPr/>
                    <a:lstStyle/>
                    <a:p>
                      <a:pPr algn="ctr" latinLnBrk="1"/>
                      <a:endParaRPr lang="ko-KR" altLang="en-US" dirty="0">
                        <a:solidFill>
                          <a:schemeClr val="bg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6F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32358826"/>
                  </a:ext>
                </a:extLst>
              </a:tr>
              <a:tr h="2806208">
                <a:tc>
                  <a:txBody>
                    <a:bodyPr wrap="square"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sz="1000">
                          <a:solidFill>
                            <a:srgbClr val="1F2326"/>
                          </a:solidFill>
                        </a:rPr>
                        <a:t/>
                      </a:r>
                      <a:endParaRPr lang="en-US" altLang="ko-KR" sz="1800" b="0" dirty="0" smtClean="0">
                        <a:solidFill>
                          <a:srgbClr val="FF0000"/>
                        </a:solidFill>
                        <a:latin typeface="+mn-lt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sz="1000">
                          <a:solidFill>
                            <a:srgbClr val="1F2326"/>
                          </a:solidFill>
                        </a:rPr>
                        <a:t/>
                      </a:r>
                      <a:endParaRPr lang="ko-KR" altLang="en-US" b="0" dirty="0" smtClean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sz="1000">
                          <a:solidFill>
                            <a:srgbClr val="1F2326"/>
                          </a:solidFill>
                        </a:rPr>
                        <a:t/>
                      </a:r>
                      <a:endParaRPr lang="ko-KR" altLang="en-US" b="0" dirty="0" smtClean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sz="1000">
                          <a:solidFill>
                            <a:srgbClr val="1F2326"/>
                          </a:solidFill>
                        </a:rPr>
                        <a:t/>
                      </a:r>
                      <a:endParaRPr lang="ko-KR" altLang="en-US" b="0" dirty="0" smtClean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357600838"/>
                  </a:ext>
                </a:extLst>
              </a:tr>
              <a:tr h="1433874">
                <a:tc>
                  <a:txBody>
                    <a:bodyPr wrap="square"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sz="1050" b="1">
                          <a:solidFill>
                            <a:srgbClr val="1F2326"/>
                          </a:solidFill>
                        </a:rPr>
                        <a:t>① 레이더</a:t>
                      </a:r>
                      <a:endParaRPr lang="en-US" altLang="ko-KR" b="0" dirty="0" smtClean="0">
                        <a:solidFill>
                          <a:schemeClr val="tx1"/>
                        </a:solidFill>
                      </a:endParaRPr>
                    </a:p>
                    <a:p>
                      <a:pPr algn="l" marL="201168" indent="-128016"/>
                      <a:r>
                        <a:rPr sz="1000">
                          <a:solidFill>
                            <a:srgbClr val="3E4347"/>
                          </a:solidFill>
                        </a:rPr>
                        <a:t>‒ 내 위치 기준 앞쪽 스팟(유형별 색)</a:t>
                      </a:r>
                    </a:p>
                    <a:p>
                      <a:pPr algn="l" marL="201168" indent="-128016"/>
                      <a:r>
                        <a:rPr sz="1000">
                          <a:solidFill>
                            <a:srgbClr val="3E4347"/>
                          </a:solidFill>
                        </a:rPr>
                        <a:t>‒ 경로를 따르지 않아 길을 바꿔도 동작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 latinLnBrk="1"/>
                      <a:r>
                        <a:rPr sz="1050" b="1">
                          <a:solidFill>
                            <a:srgbClr val="1F2326"/>
                          </a:solidFill>
                        </a:rPr>
                        <a:t>② 발견 카드</a:t>
                      </a:r>
                      <a:endParaRPr lang="ko-KR" altLang="en-US" b="0" dirty="0">
                        <a:solidFill>
                          <a:schemeClr val="tx1"/>
                        </a:solidFill>
                      </a:endParaRPr>
                    </a:p>
                    <a:p>
                      <a:pPr algn="l" marL="201168" indent="-128016"/>
                      <a:r>
                        <a:rPr sz="1000">
                          <a:solidFill>
                            <a:srgbClr val="3E4347"/>
                          </a:solidFill>
                        </a:rPr>
                        <a:t>‒ 「오늘이 마침 북평민속오일장이에요」</a:t>
                      </a:r>
                    </a:p>
                    <a:p>
                      <a:pPr algn="l" marL="201168" indent="-128016"/>
                      <a:r>
                        <a:rPr sz="1000">
                          <a:solidFill>
                            <a:srgbClr val="3E4347"/>
                          </a:solidFill>
                        </a:rPr>
                        <a:t>‒ 「여기서 약 1.2km」 · 넘기기 / 들르기 / 찜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 latinLnBrk="1"/>
                      <a:r>
                        <a:rPr sz="1050" b="1">
                          <a:solidFill>
                            <a:srgbClr val="1F2326"/>
                          </a:solidFill>
                        </a:rPr>
                        <a:t>③ 스팟 상세</a:t>
                      </a:r>
                      <a:endParaRPr lang="ko-KR" altLang="en-US" b="0" dirty="0">
                        <a:solidFill>
                          <a:schemeClr val="tx1"/>
                        </a:solidFill>
                      </a:endParaRPr>
                    </a:p>
                    <a:p>
                      <a:pPr algn="l" marL="201168" indent="-128016"/>
                      <a:r>
                        <a:rPr sz="1000">
                          <a:solidFill>
                            <a:srgbClr val="3E4347"/>
                          </a:solidFill>
                        </a:rPr>
                        <a:t>‒ 관광공사 사진·개요·영업정보</a:t>
                      </a:r>
                    </a:p>
                    <a:p>
                      <a:pPr algn="l" marL="201168" indent="-128016"/>
                      <a:r>
                        <a:rPr sz="1000">
                          <a:solidFill>
                            <a:srgbClr val="3E4347"/>
                          </a:solidFill>
                        </a:rPr>
                        <a:t>‒ 별점 없이 「네이버 후기 보기」 링크만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 latinLnBrk="1"/>
                      <a:r>
                        <a:rPr sz="1050" b="1">
                          <a:solidFill>
                            <a:srgbClr val="1F2326"/>
                          </a:solidFill>
                        </a:rPr>
                        <a:t>④ 들르기</a:t>
                      </a:r>
                      <a:endParaRPr lang="ko-KR" altLang="en-US" b="0" dirty="0">
                        <a:solidFill>
                          <a:schemeClr val="tx1"/>
                        </a:solidFill>
                      </a:endParaRPr>
                    </a:p>
                    <a:p>
                      <a:pPr algn="l" marL="201168" indent="-128016"/>
                      <a:r>
                        <a:rPr sz="1000">
                          <a:solidFill>
                            <a:srgbClr val="3E4347"/>
                          </a:solidFill>
                        </a:rPr>
                        <a:t>‒ 티맵 목적지 변경</a:t>
                      </a:r>
                    </a:p>
                    <a:p>
                      <a:pPr algn="l" marL="201168" indent="-128016"/>
                      <a:r>
                        <a:rPr sz="1000">
                          <a:solidFill>
                            <a:srgbClr val="3E4347"/>
                          </a:solidFill>
                        </a:rPr>
                        <a:t>‒ 「오늘 들른 곳」 자취에 사진으로 기록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293083417"/>
                  </a:ext>
                </a:extLst>
              </a:tr>
            </a:tbl>
          </a:graphicData>
        </a:graphic>
      </p:graphicFrame>
      <p:graphicFrame>
        <p:nvGraphicFramePr>
          <p:cNvPr id="15" name="표 14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744280268"/>
              </p:ext>
            </p:extLst>
          </p:nvPr>
        </p:nvGraphicFramePr>
        <p:xfrm>
          <a:off x="302952" y="1130530"/>
          <a:ext cx="11426308" cy="7315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82764">
                  <a:extLst>
                    <a:ext uri="{9D8B030D-6E8A-4147-A177-3AD203B41FA5}">
                      <a16:colId xmlns:a16="http://schemas.microsoft.com/office/drawing/2014/main" val="837638667"/>
                    </a:ext>
                  </a:extLst>
                </a:gridCol>
                <a:gridCol w="9643544">
                  <a:extLst>
                    <a:ext uri="{9D8B030D-6E8A-4147-A177-3AD203B41FA5}">
                      <a16:colId xmlns:a16="http://schemas.microsoft.com/office/drawing/2014/main" val="2364043552"/>
                    </a:ext>
                  </a:extLst>
                </a:gridCol>
              </a:tblGrid>
              <a:tr h="236913">
                <a:tc>
                  <a:txBody>
                    <a:bodyPr wrap="square"/>
                    <a:lstStyle/>
                    <a:p>
                      <a:pPr algn="ctr" latinLnBrk="1"/>
                      <a:r>
                        <a:rPr sz="1400" b="1">
                          <a:solidFill>
                            <a:srgbClr val="1F2326"/>
                          </a:solidFill>
                        </a:rPr>
                        <a:t>핵심 기능2</a:t>
                      </a:r>
                      <a:endParaRPr lang="ko-KR" altLang="en-US" b="1" dirty="0">
                        <a:solidFill>
                          <a:schemeClr val="bg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A401"/>
                    </a:solidFill>
                  </a:tcPr>
                </a:tc>
                <a:tc>
                  <a:txBody>
                    <a:bodyPr wrap="square"/>
                    <a:lstStyle/>
                    <a:p>
                      <a:pPr latinLnBrk="1" algn="l"/>
                      <a:r>
                        <a:rPr sz="1400" b="1">
                          <a:solidFill>
                            <a:srgbClr val="1F2326"/>
                          </a:solidFill>
                        </a:rPr>
                        <a:t>발견 레이더 · 전면 카드</a:t>
                      </a:r>
                      <a:endParaRPr lang="ko-KR" altLang="en-US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576143207"/>
                  </a:ext>
                </a:extLst>
              </a:tr>
              <a:tr h="236913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b="1" dirty="0" smtClean="0">
                          <a:solidFill>
                            <a:schemeClr val="bg1"/>
                          </a:solidFill>
                        </a:rPr>
                        <a:t>기능 설명</a:t>
                      </a:r>
                      <a:endParaRPr lang="ko-KR" altLang="en-US" b="1" dirty="0">
                        <a:solidFill>
                          <a:schemeClr val="bg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A401"/>
                    </a:solidFill>
                  </a:tcPr>
                </a:tc>
                <a:tc>
                  <a:txBody>
                    <a:bodyPr wrap="square"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sz="1100">
                          <a:solidFill>
                            <a:srgbClr val="1F2326"/>
                          </a:solidFill>
                        </a:rPr>
                        <a:t>현재 위치·진행 방향 반경 5km에서 영업정보·사진이 확인된 스팟만 카드 한 장으로</a:t>
                      </a:r>
                      <a:endParaRPr lang="ko-KR" altLang="en-US" b="0" dirty="0" smtClean="0">
                        <a:solidFill>
                          <a:schemeClr val="tx1"/>
                        </a:solidFill>
                      </a:endParaRPr>
                    </a:p>
                    <a:p>
                      <a:pPr algn="l"/>
                      <a:r>
                        <a:rPr sz="1100">
                          <a:solidFill>
                            <a:srgbClr val="1F2326"/>
                          </a:solidFill>
                        </a:rPr>
                        <a:t>장날·일몰·마감 임박 우선. 넘기기 / 들르기 / 찜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502682219"/>
                  </a:ext>
                </a:extLst>
              </a:tr>
            </a:tbl>
          </a:graphicData>
        </a:graphic>
      </p:graphicFrame>
      <p:pic>
        <p:nvPicPr>
          <p:cNvPr id="16" name="Picture 15" descr="1_hom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19128" y="2333623"/>
            <a:ext cx="1224223" cy="2659904"/>
          </a:xfrm>
          <a:prstGeom prst="rect">
            <a:avLst/>
          </a:prstGeom>
        </p:spPr>
      </p:pic>
      <p:pic>
        <p:nvPicPr>
          <p:cNvPr id="17" name="Picture 16" descr="home_expan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975705" y="2333623"/>
            <a:ext cx="1224223" cy="2659904"/>
          </a:xfrm>
          <a:prstGeom prst="rect">
            <a:avLst/>
          </a:prstGeom>
        </p:spPr>
      </p:pic>
      <p:pic>
        <p:nvPicPr>
          <p:cNvPr id="18" name="Picture 17" descr="2_depart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832282" y="2333623"/>
            <a:ext cx="1224223" cy="2659904"/>
          </a:xfrm>
          <a:prstGeom prst="rect">
            <a:avLst/>
          </a:prstGeom>
        </p:spPr>
      </p:pic>
      <p:pic>
        <p:nvPicPr>
          <p:cNvPr id="19" name="Picture 18" descr="4_rada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19128" y="2333623"/>
            <a:ext cx="1224223" cy="2659904"/>
          </a:xfrm>
          <a:prstGeom prst="rect">
            <a:avLst/>
          </a:prstGeom>
        </p:spPr>
      </p:pic>
      <p:pic>
        <p:nvPicPr>
          <p:cNvPr id="20" name="Picture 19" descr="3_car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975705" y="2333623"/>
            <a:ext cx="1224223" cy="2659904"/>
          </a:xfrm>
          <a:prstGeom prst="rect">
            <a:avLst/>
          </a:prstGeom>
        </p:spPr>
      </p:pic>
      <p:pic>
        <p:nvPicPr>
          <p:cNvPr id="21" name="Picture 20" descr="5_spot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832282" y="2333623"/>
            <a:ext cx="1224223" cy="2659904"/>
          </a:xfrm>
          <a:prstGeom prst="rect">
            <a:avLst/>
          </a:prstGeom>
        </p:spPr>
      </p:pic>
      <p:pic>
        <p:nvPicPr>
          <p:cNvPr id="22" name="Picture 21" descr="radar-t26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688859" y="2333623"/>
            <a:ext cx="1224223" cy="2659904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aphicFrame>
        <p:nvGraphicFramePr>
          <p:cNvPr id="8" name="표 7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957004574"/>
              </p:ext>
            </p:extLst>
          </p:nvPr>
        </p:nvGraphicFramePr>
        <p:xfrm>
          <a:off x="302952" y="1933326"/>
          <a:ext cx="11426308" cy="460584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856577">
                  <a:extLst>
                    <a:ext uri="{9D8B030D-6E8A-4147-A177-3AD203B41FA5}">
                      <a16:colId xmlns:a16="http://schemas.microsoft.com/office/drawing/2014/main" val="956832101"/>
                    </a:ext>
                  </a:extLst>
                </a:gridCol>
                <a:gridCol w="2856577">
                  <a:extLst>
                    <a:ext uri="{9D8B030D-6E8A-4147-A177-3AD203B41FA5}">
                      <a16:colId xmlns:a16="http://schemas.microsoft.com/office/drawing/2014/main" val="2325135401"/>
                    </a:ext>
                  </a:extLst>
                </a:gridCol>
                <a:gridCol w="2856577">
                  <a:extLst>
                    <a:ext uri="{9D8B030D-6E8A-4147-A177-3AD203B41FA5}">
                      <a16:colId xmlns:a16="http://schemas.microsoft.com/office/drawing/2014/main" val="1669866357"/>
                    </a:ext>
                  </a:extLst>
                </a:gridCol>
                <a:gridCol w="2856577">
                  <a:extLst>
                    <a:ext uri="{9D8B030D-6E8A-4147-A177-3AD203B41FA5}">
                      <a16:colId xmlns:a16="http://schemas.microsoft.com/office/drawing/2014/main" val="1337599892"/>
                    </a:ext>
                  </a:extLst>
                </a:gridCol>
              </a:tblGrid>
              <a:tr h="327145">
                <a:tc gridSpan="4">
                  <a:txBody>
                    <a:bodyPr/>
                    <a:lstStyle/>
                    <a:p>
                      <a:pPr algn="ctr" latinLnBrk="1"/>
                      <a:r>
                        <a:rPr lang="ko-KR" altLang="en-US" dirty="0" smtClean="0">
                          <a:solidFill>
                            <a:schemeClr val="bg1"/>
                          </a:solidFill>
                        </a:rPr>
                        <a:t>기능</a:t>
                      </a:r>
                      <a:r>
                        <a:rPr lang="ko-KR" altLang="en-US" baseline="0" dirty="0" smtClean="0">
                          <a:solidFill>
                            <a:schemeClr val="bg1"/>
                          </a:solidFill>
                        </a:rPr>
                        <a:t> </a:t>
                      </a:r>
                      <a:r>
                        <a:rPr lang="ko-KR" altLang="en-US" dirty="0" smtClean="0">
                          <a:solidFill>
                            <a:schemeClr val="bg1"/>
                          </a:solidFill>
                        </a:rPr>
                        <a:t>흐름도</a:t>
                      </a:r>
                      <a:endParaRPr lang="ko-KR" altLang="en-US" dirty="0">
                        <a:solidFill>
                          <a:schemeClr val="bg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6F00"/>
                    </a:solidFill>
                  </a:tcPr>
                </a:tc>
                <a:tc hMerge="1">
                  <a:txBody>
                    <a:bodyPr/>
                    <a:lstStyle/>
                    <a:p>
                      <a:pPr algn="ctr" latinLnBrk="1"/>
                      <a:endParaRPr lang="ko-KR" altLang="en-US" dirty="0">
                        <a:solidFill>
                          <a:schemeClr val="bg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6F00"/>
                    </a:solidFill>
                  </a:tcPr>
                </a:tc>
                <a:tc hMerge="1">
                  <a:txBody>
                    <a:bodyPr/>
                    <a:lstStyle/>
                    <a:p>
                      <a:pPr algn="ctr" latinLnBrk="1"/>
                      <a:endParaRPr lang="ko-KR" altLang="en-US" dirty="0">
                        <a:solidFill>
                          <a:schemeClr val="bg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6F00"/>
                    </a:solidFill>
                  </a:tcPr>
                </a:tc>
                <a:tc hMerge="1">
                  <a:txBody>
                    <a:bodyPr/>
                    <a:lstStyle/>
                    <a:p>
                      <a:pPr algn="ctr" latinLnBrk="1"/>
                      <a:endParaRPr lang="ko-KR" altLang="en-US" dirty="0">
                        <a:solidFill>
                          <a:schemeClr val="bg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6F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32358826"/>
                  </a:ext>
                </a:extLst>
              </a:tr>
              <a:tr h="2806208">
                <a:tc>
                  <a:txBody>
                    <a:bodyPr wrap="square"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sz="1000">
                          <a:solidFill>
                            <a:srgbClr val="1F2326"/>
                          </a:solidFill>
                        </a:rPr>
                        <a:t/>
                      </a:r>
                      <a:endParaRPr lang="en-US" altLang="ko-KR" sz="1800" b="0" dirty="0" smtClean="0">
                        <a:solidFill>
                          <a:srgbClr val="FF0000"/>
                        </a:solidFill>
                        <a:latin typeface="+mn-lt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sz="1000">
                          <a:solidFill>
                            <a:srgbClr val="1F2326"/>
                          </a:solidFill>
                        </a:rPr>
                        <a:t/>
                      </a:r>
                      <a:endParaRPr lang="ko-KR" altLang="en-US" b="0" dirty="0" smtClean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sz="1000">
                          <a:solidFill>
                            <a:srgbClr val="1F2326"/>
                          </a:solidFill>
                        </a:rPr>
                        <a:t/>
                      </a:r>
                      <a:endParaRPr lang="ko-KR" altLang="en-US" b="0" dirty="0" smtClean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sz="1000">
                          <a:solidFill>
                            <a:srgbClr val="1F2326"/>
                          </a:solidFill>
                        </a:rPr>
                        <a:t/>
                      </a:r>
                      <a:endParaRPr lang="ko-KR" altLang="en-US" b="0" dirty="0" smtClean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357600838"/>
                  </a:ext>
                </a:extLst>
              </a:tr>
              <a:tr h="1433874">
                <a:tc>
                  <a:txBody>
                    <a:bodyPr wrap="square"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sz="1050" b="1">
                          <a:solidFill>
                            <a:srgbClr val="1F2326"/>
                          </a:solidFill>
                        </a:rPr>
                        <a:t>① 자동 표시</a:t>
                      </a:r>
                      <a:endParaRPr lang="en-US" altLang="ko-KR" b="0" dirty="0" smtClean="0">
                        <a:solidFill>
                          <a:schemeClr val="tx1"/>
                        </a:solidFill>
                      </a:endParaRPr>
                    </a:p>
                    <a:p>
                      <a:pPr algn="l" marL="201168" indent="-128016"/>
                      <a:r>
                        <a:rPr sz="1000">
                          <a:solidFill>
                            <a:srgbClr val="3E4347"/>
                          </a:solidFill>
                        </a:rPr>
                        <a:t>‒ 들른 뒤 2분 정차 시</a:t>
                      </a:r>
                    </a:p>
                    <a:p>
                      <a:pPr algn="l" marL="201168" indent="-128016"/>
                      <a:r>
                        <a:rPr sz="1000">
                          <a:solidFill>
                            <a:srgbClr val="3E4347"/>
                          </a:solidFill>
                        </a:rPr>
                        <a:t>‒ 「여기서 앞쪽으로」 펼침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 latinLnBrk="1"/>
                      <a:r>
                        <a:rPr sz="1050" b="1">
                          <a:solidFill>
                            <a:srgbClr val="1F2326"/>
                          </a:solidFill>
                        </a:rPr>
                        <a:t>② 앞쪽 후보</a:t>
                      </a:r>
                      <a:endParaRPr lang="ko-KR" altLang="en-US" b="0" dirty="0">
                        <a:solidFill>
                          <a:schemeClr val="tx1"/>
                        </a:solidFill>
                      </a:endParaRPr>
                    </a:p>
                    <a:p>
                      <a:pPr algn="l" marL="201168" indent="-128016"/>
                      <a:r>
                        <a:rPr sz="1000">
                          <a:solidFill>
                            <a:srgbClr val="3E4347"/>
                          </a:solidFill>
                        </a:rPr>
                        <a:t>‒ 10km 안 후보 3곳</a:t>
                      </a:r>
                    </a:p>
                    <a:p>
                      <a:pPr algn="l" marL="201168" indent="-128016"/>
                      <a:r>
                        <a:rPr sz="1000">
                          <a:solidFill>
                            <a:srgbClr val="3E4347"/>
                          </a:solidFill>
                        </a:rPr>
                        <a:t>‒ 「그냥 7번 국도로 돌아가기」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 latinLnBrk="1"/>
                      <a:r>
                        <a:rPr sz="1050" b="1">
                          <a:solidFill>
                            <a:srgbClr val="1F2326"/>
                          </a:solidFill>
                        </a:rPr>
                        <a:t>③ 길 바꾸기</a:t>
                      </a:r>
                      <a:endParaRPr lang="ko-KR" altLang="en-US" b="0" dirty="0">
                        <a:solidFill>
                          <a:schemeClr val="tx1"/>
                        </a:solidFill>
                      </a:endParaRPr>
                    </a:p>
                    <a:p>
                      <a:pPr algn="l" marL="201168" indent="-128016"/>
                      <a:r>
                        <a:rPr sz="1000">
                          <a:solidFill>
                            <a:srgbClr val="3E4347"/>
                          </a:solidFill>
                        </a:rPr>
                        <a:t>‒ 상단 뱃지 선택 → 「길을 바꿀까요?」</a:t>
                      </a:r>
                    </a:p>
                    <a:p>
                      <a:pPr algn="l" marL="201168" indent="-128016"/>
                      <a:r>
                        <a:rPr sz="1000">
                          <a:solidFill>
                            <a:srgbClr val="3E4347"/>
                          </a:solidFill>
                        </a:rPr>
                        <a:t>‒ 인근 국도로 전환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 latinLnBrk="1"/>
                      <a:r>
                        <a:rPr sz="1050" b="1">
                          <a:solidFill>
                            <a:srgbClr val="1F2326"/>
                          </a:solidFill>
                        </a:rPr>
                        <a:t>④ 기록 유지</a:t>
                      </a:r>
                      <a:endParaRPr lang="ko-KR" altLang="en-US" b="0" dirty="0">
                        <a:solidFill>
                          <a:schemeClr val="tx1"/>
                        </a:solidFill>
                      </a:endParaRPr>
                    </a:p>
                    <a:p>
                      <a:pPr algn="l" marL="201168" indent="-128016"/>
                      <a:r>
                        <a:rPr sz="1000">
                          <a:solidFill>
                            <a:srgbClr val="3E4347"/>
                          </a:solidFill>
                        </a:rPr>
                        <a:t>‒ 여행은 하루, 국도는 구간(43 → 6번)</a:t>
                      </a:r>
                    </a:p>
                    <a:p>
                      <a:pPr algn="l" marL="201168" indent="-128016"/>
                      <a:r>
                        <a:rPr sz="1000">
                          <a:solidFill>
                            <a:srgbClr val="3E4347"/>
                          </a:solidFill>
                        </a:rPr>
                        <a:t>‒ 거리·들른 곳 그대로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293083417"/>
                  </a:ext>
                </a:extLst>
              </a:tr>
            </a:tbl>
          </a:graphicData>
        </a:graphic>
      </p:graphicFrame>
      <p:graphicFrame>
        <p:nvGraphicFramePr>
          <p:cNvPr id="15" name="표 14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744280268"/>
              </p:ext>
            </p:extLst>
          </p:nvPr>
        </p:nvGraphicFramePr>
        <p:xfrm>
          <a:off x="302952" y="1130530"/>
          <a:ext cx="11426308" cy="7315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82764">
                  <a:extLst>
                    <a:ext uri="{9D8B030D-6E8A-4147-A177-3AD203B41FA5}">
                      <a16:colId xmlns:a16="http://schemas.microsoft.com/office/drawing/2014/main" val="837638667"/>
                    </a:ext>
                  </a:extLst>
                </a:gridCol>
                <a:gridCol w="9643544">
                  <a:extLst>
                    <a:ext uri="{9D8B030D-6E8A-4147-A177-3AD203B41FA5}">
                      <a16:colId xmlns:a16="http://schemas.microsoft.com/office/drawing/2014/main" val="2364043552"/>
                    </a:ext>
                  </a:extLst>
                </a:gridCol>
              </a:tblGrid>
              <a:tr h="236913">
                <a:tc>
                  <a:txBody>
                    <a:bodyPr wrap="square"/>
                    <a:lstStyle/>
                    <a:p>
                      <a:pPr algn="ctr" latinLnBrk="1"/>
                      <a:r>
                        <a:rPr sz="1400" b="1">
                          <a:solidFill>
                            <a:srgbClr val="1F2326"/>
                          </a:solidFill>
                        </a:rPr>
                        <a:t>핵심 기능3</a:t>
                      </a:r>
                      <a:endParaRPr lang="ko-KR" altLang="en-US" b="1" dirty="0">
                        <a:solidFill>
                          <a:schemeClr val="bg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A401"/>
                    </a:solidFill>
                  </a:tcPr>
                </a:tc>
                <a:tc>
                  <a:txBody>
                    <a:bodyPr wrap="square"/>
                    <a:lstStyle/>
                    <a:p>
                      <a:pPr latinLnBrk="1" algn="l"/>
                      <a:r>
                        <a:rPr sz="1400" b="1">
                          <a:solidFill>
                            <a:srgbClr val="1F2326"/>
                          </a:solidFill>
                        </a:rPr>
                        <a:t>들른 뒤 이어가기 · 길 바꾸기</a:t>
                      </a:r>
                      <a:endParaRPr lang="ko-KR" altLang="en-US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576143207"/>
                  </a:ext>
                </a:extLst>
              </a:tr>
              <a:tr h="236913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b="1" dirty="0" smtClean="0">
                          <a:solidFill>
                            <a:schemeClr val="bg1"/>
                          </a:solidFill>
                        </a:rPr>
                        <a:t>기능 설명</a:t>
                      </a:r>
                      <a:endParaRPr lang="ko-KR" altLang="en-US" b="1" dirty="0">
                        <a:solidFill>
                          <a:schemeClr val="bg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A401"/>
                    </a:solidFill>
                  </a:tcPr>
                </a:tc>
                <a:tc>
                  <a:txBody>
                    <a:bodyPr wrap="square"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sz="1100">
                          <a:solidFill>
                            <a:srgbClr val="1F2326"/>
                          </a:solidFill>
                        </a:rPr>
                        <a:t>식사 후 다음 행선지를 정하는 순간 지원. 정차 2분이면 앞쪽 10km 후보 제시</a:t>
                      </a:r>
                      <a:endParaRPr lang="ko-KR" altLang="en-US" b="0" dirty="0" smtClean="0">
                        <a:solidFill>
                          <a:schemeClr val="tx1"/>
                        </a:solidFill>
                      </a:endParaRPr>
                    </a:p>
                    <a:p>
                      <a:pPr algn="l"/>
                      <a:r>
                        <a:rPr sz="1100">
                          <a:solidFill>
                            <a:srgbClr val="1F2326"/>
                          </a:solidFill>
                        </a:rPr>
                        <a:t>다른 국도로 갈아타도 여행과 기록 유지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502682219"/>
                  </a:ext>
                </a:extLst>
              </a:tr>
            </a:tbl>
          </a:graphicData>
        </a:graphic>
      </p:graphicFrame>
      <p:pic>
        <p:nvPicPr>
          <p:cNvPr id="16" name="Picture 15" descr="1_hom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19128" y="2333623"/>
            <a:ext cx="1224223" cy="2659904"/>
          </a:xfrm>
          <a:prstGeom prst="rect">
            <a:avLst/>
          </a:prstGeom>
        </p:spPr>
      </p:pic>
      <p:pic>
        <p:nvPicPr>
          <p:cNvPr id="17" name="Picture 16" descr="home_expan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975705" y="2333623"/>
            <a:ext cx="1224223" cy="2659904"/>
          </a:xfrm>
          <a:prstGeom prst="rect">
            <a:avLst/>
          </a:prstGeom>
        </p:spPr>
      </p:pic>
      <p:pic>
        <p:nvPicPr>
          <p:cNvPr id="18" name="Picture 17" descr="2_depart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832282" y="2333623"/>
            <a:ext cx="1224223" cy="2659904"/>
          </a:xfrm>
          <a:prstGeom prst="rect">
            <a:avLst/>
          </a:prstGeom>
        </p:spPr>
      </p:pic>
      <p:pic>
        <p:nvPicPr>
          <p:cNvPr id="19" name="Picture 18" descr="next2-t17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19128" y="2333623"/>
            <a:ext cx="1224223" cy="2659904"/>
          </a:xfrm>
          <a:prstGeom prst="rect">
            <a:avLst/>
          </a:prstGeom>
        </p:spPr>
      </p:pic>
      <p:pic>
        <p:nvPicPr>
          <p:cNvPr id="20" name="Picture 19" descr="next2-t22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975705" y="2333623"/>
            <a:ext cx="1224223" cy="2659904"/>
          </a:xfrm>
          <a:prstGeom prst="rect">
            <a:avLst/>
          </a:prstGeom>
        </p:spPr>
      </p:pic>
      <p:pic>
        <p:nvPicPr>
          <p:cNvPr id="21" name="Picture 20" descr="switch-t16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832282" y="2333623"/>
            <a:ext cx="1224223" cy="2659904"/>
          </a:xfrm>
          <a:prstGeom prst="rect">
            <a:avLst/>
          </a:prstGeom>
        </p:spPr>
      </p:pic>
      <p:pic>
        <p:nvPicPr>
          <p:cNvPr id="22" name="Picture 21" descr="4_radar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688859" y="2333623"/>
            <a:ext cx="1224223" cy="2659904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aphicFrame>
        <p:nvGraphicFramePr>
          <p:cNvPr id="8" name="표 7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957004574"/>
              </p:ext>
            </p:extLst>
          </p:nvPr>
        </p:nvGraphicFramePr>
        <p:xfrm>
          <a:off x="302952" y="1933326"/>
          <a:ext cx="11426308" cy="460584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856577">
                  <a:extLst>
                    <a:ext uri="{9D8B030D-6E8A-4147-A177-3AD203B41FA5}">
                      <a16:colId xmlns:a16="http://schemas.microsoft.com/office/drawing/2014/main" val="956832101"/>
                    </a:ext>
                  </a:extLst>
                </a:gridCol>
                <a:gridCol w="2856577">
                  <a:extLst>
                    <a:ext uri="{9D8B030D-6E8A-4147-A177-3AD203B41FA5}">
                      <a16:colId xmlns:a16="http://schemas.microsoft.com/office/drawing/2014/main" val="2325135401"/>
                    </a:ext>
                  </a:extLst>
                </a:gridCol>
                <a:gridCol w="2856577">
                  <a:extLst>
                    <a:ext uri="{9D8B030D-6E8A-4147-A177-3AD203B41FA5}">
                      <a16:colId xmlns:a16="http://schemas.microsoft.com/office/drawing/2014/main" val="1669866357"/>
                    </a:ext>
                  </a:extLst>
                </a:gridCol>
                <a:gridCol w="2856577">
                  <a:extLst>
                    <a:ext uri="{9D8B030D-6E8A-4147-A177-3AD203B41FA5}">
                      <a16:colId xmlns:a16="http://schemas.microsoft.com/office/drawing/2014/main" val="1337599892"/>
                    </a:ext>
                  </a:extLst>
                </a:gridCol>
              </a:tblGrid>
              <a:tr h="327145">
                <a:tc gridSpan="4">
                  <a:txBody>
                    <a:bodyPr/>
                    <a:lstStyle/>
                    <a:p>
                      <a:pPr algn="ctr" latinLnBrk="1"/>
                      <a:r>
                        <a:rPr lang="ko-KR" altLang="en-US" dirty="0" smtClean="0">
                          <a:solidFill>
                            <a:schemeClr val="bg1"/>
                          </a:solidFill>
                        </a:rPr>
                        <a:t>기능</a:t>
                      </a:r>
                      <a:r>
                        <a:rPr lang="ko-KR" altLang="en-US" baseline="0" dirty="0" smtClean="0">
                          <a:solidFill>
                            <a:schemeClr val="bg1"/>
                          </a:solidFill>
                        </a:rPr>
                        <a:t> </a:t>
                      </a:r>
                      <a:r>
                        <a:rPr lang="ko-KR" altLang="en-US" dirty="0" smtClean="0">
                          <a:solidFill>
                            <a:schemeClr val="bg1"/>
                          </a:solidFill>
                        </a:rPr>
                        <a:t>흐름도</a:t>
                      </a:r>
                      <a:endParaRPr lang="ko-KR" altLang="en-US" dirty="0">
                        <a:solidFill>
                          <a:schemeClr val="bg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6F00"/>
                    </a:solidFill>
                  </a:tcPr>
                </a:tc>
                <a:tc hMerge="1">
                  <a:txBody>
                    <a:bodyPr/>
                    <a:lstStyle/>
                    <a:p>
                      <a:pPr algn="ctr" latinLnBrk="1"/>
                      <a:endParaRPr lang="ko-KR" altLang="en-US" dirty="0">
                        <a:solidFill>
                          <a:schemeClr val="bg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6F00"/>
                    </a:solidFill>
                  </a:tcPr>
                </a:tc>
                <a:tc hMerge="1">
                  <a:txBody>
                    <a:bodyPr/>
                    <a:lstStyle/>
                    <a:p>
                      <a:pPr algn="ctr" latinLnBrk="1"/>
                      <a:endParaRPr lang="ko-KR" altLang="en-US" dirty="0">
                        <a:solidFill>
                          <a:schemeClr val="bg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6F00"/>
                    </a:solidFill>
                  </a:tcPr>
                </a:tc>
                <a:tc hMerge="1">
                  <a:txBody>
                    <a:bodyPr/>
                    <a:lstStyle/>
                    <a:p>
                      <a:pPr algn="ctr" latinLnBrk="1"/>
                      <a:endParaRPr lang="ko-KR" altLang="en-US" dirty="0">
                        <a:solidFill>
                          <a:schemeClr val="bg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6F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32358826"/>
                  </a:ext>
                </a:extLst>
              </a:tr>
              <a:tr h="2806208">
                <a:tc>
                  <a:txBody>
                    <a:bodyPr wrap="square"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sz="1000">
                          <a:solidFill>
                            <a:srgbClr val="1F2326"/>
                          </a:solidFill>
                        </a:rPr>
                        <a:t/>
                      </a:r>
                      <a:endParaRPr lang="en-US" altLang="ko-KR" sz="1800" b="0" dirty="0" smtClean="0">
                        <a:solidFill>
                          <a:srgbClr val="FF0000"/>
                        </a:solidFill>
                        <a:latin typeface="+mn-lt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sz="1000">
                          <a:solidFill>
                            <a:srgbClr val="1F2326"/>
                          </a:solidFill>
                        </a:rPr>
                        <a:t/>
                      </a:r>
                      <a:endParaRPr lang="ko-KR" altLang="en-US" b="0" dirty="0" smtClean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sz="1000">
                          <a:solidFill>
                            <a:srgbClr val="1F2326"/>
                          </a:solidFill>
                        </a:rPr>
                        <a:t/>
                      </a:r>
                      <a:endParaRPr lang="ko-KR" altLang="en-US" b="0" dirty="0" smtClean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sz="1000">
                          <a:solidFill>
                            <a:srgbClr val="1F2326"/>
                          </a:solidFill>
                        </a:rPr>
                        <a:t/>
                      </a:r>
                      <a:endParaRPr lang="ko-KR" altLang="en-US" b="0" dirty="0" smtClean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357600838"/>
                  </a:ext>
                </a:extLst>
              </a:tr>
              <a:tr h="1433874">
                <a:tc>
                  <a:txBody>
                    <a:bodyPr wrap="square"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sz="1050" b="1">
                          <a:solidFill>
                            <a:srgbClr val="1F2326"/>
                          </a:solidFill>
                        </a:rPr>
                        <a:t>① 여행기</a:t>
                      </a:r>
                      <a:endParaRPr lang="en-US" altLang="ko-KR" b="0" dirty="0" smtClean="0">
                        <a:solidFill>
                          <a:schemeClr val="tx1"/>
                        </a:solidFill>
                      </a:endParaRPr>
                    </a:p>
                    <a:p>
                      <a:pPr algn="l" marL="201168" indent="-128016"/>
                      <a:r>
                        <a:rPr sz="1000">
                          <a:solidFill>
                            <a:srgbClr val="3E4347"/>
                          </a:solidFill>
                        </a:rPr>
                        <a:t>‒ 「EP.6 — 43번 국도에서 생긴 일」</a:t>
                      </a:r>
                    </a:p>
                    <a:p>
                      <a:pPr algn="l" marL="201168" indent="-128016"/>
                      <a:r>
                        <a:rPr sz="1000">
                          <a:solidFill>
                            <a:srgbClr val="3E4347"/>
                          </a:solidFill>
                        </a:rPr>
                        <a:t>‒ 실제 GPS 선 포스터 + 타임라인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 latinLnBrk="1"/>
                      <a:r>
                        <a:rPr sz="1050" b="1">
                          <a:solidFill>
                            <a:srgbClr val="1F2326"/>
                          </a:solidFill>
                        </a:rPr>
                        <a:t>② 공유 카드</a:t>
                      </a:r>
                      <a:endParaRPr lang="ko-KR" altLang="en-US" b="0" dirty="0">
                        <a:solidFill>
                          <a:schemeClr val="tx1"/>
                        </a:solidFill>
                      </a:endParaRPr>
                    </a:p>
                    <a:p>
                      <a:pPr algn="l" marL="201168" indent="-128016"/>
                      <a:r>
                        <a:rPr sz="1000">
                          <a:solidFill>
                            <a:srgbClr val="3E4347"/>
                          </a:solidFill>
                        </a:rPr>
                        <a:t>‒ 지도 · 들른 곳 번호 목록 · 「들른 발견 N」</a:t>
                      </a:r>
                    </a:p>
                    <a:p>
                      <a:pPr algn="l" marL="201168" indent="-128016"/>
                      <a:r>
                        <a:rPr sz="1000">
                          <a:solidFill>
                            <a:srgbClr val="3E4347"/>
                          </a:solidFill>
                        </a:rPr>
                        <a:t>‒ 시작·끝 300m 자동 삭제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 latinLnBrk="1"/>
                      <a:r>
                        <a:rPr sz="1050" b="1">
                          <a:solidFill>
                            <a:srgbClr val="1F2326"/>
                          </a:solidFill>
                        </a:rPr>
                        <a:t>③ 마이</a:t>
                      </a:r>
                      <a:endParaRPr lang="ko-KR" altLang="en-US" b="0" dirty="0">
                        <a:solidFill>
                          <a:schemeClr val="tx1"/>
                        </a:solidFill>
                      </a:endParaRPr>
                    </a:p>
                    <a:p>
                      <a:pPr algn="l" marL="201168" indent="-128016"/>
                      <a:r>
                        <a:rPr sz="1000">
                          <a:solidFill>
                            <a:srgbClr val="3E4347"/>
                          </a:solidFill>
                        </a:rPr>
                        <a:t>‒ 여행기 목록 · 찜</a:t>
                      </a:r>
                    </a:p>
                    <a:p>
                      <a:pPr algn="l" marL="201168" indent="-128016"/>
                      <a:r>
                        <a:rPr sz="1000">
                          <a:solidFill>
                            <a:srgbClr val="3E4347"/>
                          </a:solidFill>
                        </a:rPr>
                        <a:t>‒ 국도 51선 수집 현황 · 설정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 latinLnBrk="1"/>
                      <a:r>
                        <a:rPr sz="1050" b="1">
                          <a:solidFill>
                            <a:srgbClr val="1F2326"/>
                          </a:solidFill>
                        </a:rPr>
                        <a:t>④ 여행 마치기</a:t>
                      </a:r>
                      <a:endParaRPr lang="ko-KR" altLang="en-US" b="0" dirty="0">
                        <a:solidFill>
                          <a:schemeClr val="tx1"/>
                        </a:solidFill>
                      </a:endParaRPr>
                    </a:p>
                    <a:p>
                      <a:pPr algn="l" marL="201168" indent="-128016"/>
                      <a:r>
                        <a:rPr sz="1000">
                          <a:solidFill>
                            <a:srgbClr val="3E4347"/>
                          </a:solidFill>
                        </a:rPr>
                        <a:t>‒ 레이더의 「오늘 여행 마치기」</a:t>
                      </a:r>
                    </a:p>
                    <a:p>
                      <a:pPr algn="l" marL="201168" indent="-128016"/>
                      <a:r>
                        <a:rPr sz="1000">
                          <a:solidFill>
                            <a:srgbClr val="3E4347"/>
                          </a:solidFill>
                        </a:rPr>
                        <a:t>‒ 한 번으로 하루 종료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293083417"/>
                  </a:ext>
                </a:extLst>
              </a:tr>
            </a:tbl>
          </a:graphicData>
        </a:graphic>
      </p:graphicFrame>
      <p:graphicFrame>
        <p:nvGraphicFramePr>
          <p:cNvPr id="15" name="표 14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744280268"/>
              </p:ext>
            </p:extLst>
          </p:nvPr>
        </p:nvGraphicFramePr>
        <p:xfrm>
          <a:off x="302952" y="1130530"/>
          <a:ext cx="11426308" cy="7315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82764">
                  <a:extLst>
                    <a:ext uri="{9D8B030D-6E8A-4147-A177-3AD203B41FA5}">
                      <a16:colId xmlns:a16="http://schemas.microsoft.com/office/drawing/2014/main" val="837638667"/>
                    </a:ext>
                  </a:extLst>
                </a:gridCol>
                <a:gridCol w="9643544">
                  <a:extLst>
                    <a:ext uri="{9D8B030D-6E8A-4147-A177-3AD203B41FA5}">
                      <a16:colId xmlns:a16="http://schemas.microsoft.com/office/drawing/2014/main" val="2364043552"/>
                    </a:ext>
                  </a:extLst>
                </a:gridCol>
              </a:tblGrid>
              <a:tr h="236913">
                <a:tc>
                  <a:txBody>
                    <a:bodyPr wrap="square"/>
                    <a:lstStyle/>
                    <a:p>
                      <a:pPr algn="ctr" latinLnBrk="1"/>
                      <a:r>
                        <a:rPr sz="1400" b="1">
                          <a:solidFill>
                            <a:srgbClr val="1F2326"/>
                          </a:solidFill>
                        </a:rPr>
                        <a:t>핵심 기능4</a:t>
                      </a:r>
                      <a:endParaRPr lang="ko-KR" altLang="en-US" b="1" dirty="0">
                        <a:solidFill>
                          <a:schemeClr val="bg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A401"/>
                    </a:solidFill>
                  </a:tcPr>
                </a:tc>
                <a:tc>
                  <a:txBody>
                    <a:bodyPr wrap="square"/>
                    <a:lstStyle/>
                    <a:p>
                      <a:pPr latinLnBrk="1" algn="l"/>
                      <a:r>
                        <a:rPr sz="1400" b="1">
                          <a:solidFill>
                            <a:srgbClr val="1F2326"/>
                          </a:solidFill>
                        </a:rPr>
                        <a:t>여행기 · 공유 포스터 · 국도 51선 수집</a:t>
                      </a:r>
                      <a:endParaRPr lang="ko-KR" altLang="en-US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576143207"/>
                  </a:ext>
                </a:extLst>
              </a:tr>
              <a:tr h="236913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b="1" dirty="0" smtClean="0">
                          <a:solidFill>
                            <a:schemeClr val="bg1"/>
                          </a:solidFill>
                        </a:rPr>
                        <a:t>기능 설명</a:t>
                      </a:r>
                      <a:endParaRPr lang="ko-KR" altLang="en-US" b="1" dirty="0">
                        <a:solidFill>
                          <a:schemeClr val="bg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A401"/>
                    </a:solidFill>
                  </a:tcPr>
                </a:tc>
                <a:tc>
                  <a:txBody>
                    <a:bodyPr wrap="square"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sz="1100">
                          <a:solidFill>
                            <a:srgbClr val="1F2326"/>
                          </a:solidFill>
                        </a:rPr>
                        <a:t>「오늘 여행 마치기」 선택 시 지나온 길과 들른 곳을 한 편의 여행기로 자동 생성</a:t>
                      </a:r>
                      <a:endParaRPr lang="ko-KR" altLang="en-US" b="0" dirty="0" smtClean="0">
                        <a:solidFill>
                          <a:schemeClr val="tx1"/>
                        </a:solidFill>
                      </a:endParaRPr>
                    </a:p>
                    <a:p>
                      <a:pPr algn="l"/>
                      <a:r>
                        <a:rPr sz="1100">
                          <a:solidFill>
                            <a:srgbClr val="1F2326"/>
                          </a:solidFill>
                        </a:rPr>
                        <a:t>포스터 한 장으로 공유. 지나온 국도를 51선 기준으로 누적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502682219"/>
                  </a:ext>
                </a:extLst>
              </a:tr>
            </a:tbl>
          </a:graphicData>
        </a:graphic>
      </p:graphicFrame>
      <p:pic>
        <p:nvPicPr>
          <p:cNvPr id="16" name="Picture 15" descr="1_hom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19128" y="2333623"/>
            <a:ext cx="1224223" cy="2659904"/>
          </a:xfrm>
          <a:prstGeom prst="rect">
            <a:avLst/>
          </a:prstGeom>
        </p:spPr>
      </p:pic>
      <p:pic>
        <p:nvPicPr>
          <p:cNvPr id="17" name="Picture 16" descr="home_expan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975705" y="2333623"/>
            <a:ext cx="1224223" cy="2659904"/>
          </a:xfrm>
          <a:prstGeom prst="rect">
            <a:avLst/>
          </a:prstGeom>
        </p:spPr>
      </p:pic>
      <p:pic>
        <p:nvPicPr>
          <p:cNvPr id="18" name="Picture 17" descr="2_depart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832282" y="2333623"/>
            <a:ext cx="1224223" cy="2659904"/>
          </a:xfrm>
          <a:prstGeom prst="rect">
            <a:avLst/>
          </a:prstGeom>
        </p:spPr>
      </p:pic>
      <p:pic>
        <p:nvPicPr>
          <p:cNvPr id="19" name="Picture 18" descr="trip-t16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19128" y="2333623"/>
            <a:ext cx="1224223" cy="2659904"/>
          </a:xfrm>
          <a:prstGeom prst="rect">
            <a:avLst/>
          </a:prstGeom>
        </p:spPr>
      </p:pic>
      <p:pic>
        <p:nvPicPr>
          <p:cNvPr id="20" name="Picture 19" descr="share_card_8stop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682614" y="2333623"/>
            <a:ext cx="1810405" cy="2659904"/>
          </a:xfrm>
          <a:prstGeom prst="rect">
            <a:avLst/>
          </a:prstGeom>
        </p:spPr>
      </p:pic>
      <p:pic>
        <p:nvPicPr>
          <p:cNvPr id="21" name="Picture 20" descr="my-t8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832282" y="2333623"/>
            <a:ext cx="1224223" cy="2659904"/>
          </a:xfrm>
          <a:prstGeom prst="rect">
            <a:avLst/>
          </a:prstGeom>
        </p:spPr>
      </p:pic>
      <p:pic>
        <p:nvPicPr>
          <p:cNvPr id="22" name="Picture 21" descr="4_radar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688859" y="2333623"/>
            <a:ext cx="1224223" cy="2659904"/>
          </a:xfrm>
          <a:prstGeom prst="rect">
            <a:avLst/>
          </a:prstGeom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aphicFrame>
        <p:nvGraphicFramePr>
          <p:cNvPr id="8" name="표 7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957004574"/>
              </p:ext>
            </p:extLst>
          </p:nvPr>
        </p:nvGraphicFramePr>
        <p:xfrm>
          <a:off x="302952" y="1933326"/>
          <a:ext cx="11426308" cy="460584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856577">
                  <a:extLst>
                    <a:ext uri="{9D8B030D-6E8A-4147-A177-3AD203B41FA5}">
                      <a16:colId xmlns:a16="http://schemas.microsoft.com/office/drawing/2014/main" val="956832101"/>
                    </a:ext>
                  </a:extLst>
                </a:gridCol>
                <a:gridCol w="2856577">
                  <a:extLst>
                    <a:ext uri="{9D8B030D-6E8A-4147-A177-3AD203B41FA5}">
                      <a16:colId xmlns:a16="http://schemas.microsoft.com/office/drawing/2014/main" val="2325135401"/>
                    </a:ext>
                  </a:extLst>
                </a:gridCol>
                <a:gridCol w="2856577">
                  <a:extLst>
                    <a:ext uri="{9D8B030D-6E8A-4147-A177-3AD203B41FA5}">
                      <a16:colId xmlns:a16="http://schemas.microsoft.com/office/drawing/2014/main" val="1669866357"/>
                    </a:ext>
                  </a:extLst>
                </a:gridCol>
                <a:gridCol w="2856577">
                  <a:extLst>
                    <a:ext uri="{9D8B030D-6E8A-4147-A177-3AD203B41FA5}">
                      <a16:colId xmlns:a16="http://schemas.microsoft.com/office/drawing/2014/main" val="1337599892"/>
                    </a:ext>
                  </a:extLst>
                </a:gridCol>
              </a:tblGrid>
              <a:tr h="327145">
                <a:tc gridSpan="4">
                  <a:txBody>
                    <a:bodyPr/>
                    <a:lstStyle/>
                    <a:p>
                      <a:pPr algn="ctr" latinLnBrk="1"/>
                      <a:r>
                        <a:rPr lang="ko-KR" altLang="en-US" dirty="0" smtClean="0">
                          <a:solidFill>
                            <a:schemeClr val="bg1"/>
                          </a:solidFill>
                        </a:rPr>
                        <a:t>기능</a:t>
                      </a:r>
                      <a:r>
                        <a:rPr lang="ko-KR" altLang="en-US" baseline="0" dirty="0" smtClean="0">
                          <a:solidFill>
                            <a:schemeClr val="bg1"/>
                          </a:solidFill>
                        </a:rPr>
                        <a:t> </a:t>
                      </a:r>
                      <a:r>
                        <a:rPr lang="ko-KR" altLang="en-US" dirty="0" smtClean="0">
                          <a:solidFill>
                            <a:schemeClr val="bg1"/>
                          </a:solidFill>
                        </a:rPr>
                        <a:t>흐름도</a:t>
                      </a:r>
                      <a:endParaRPr lang="ko-KR" altLang="en-US" dirty="0">
                        <a:solidFill>
                          <a:schemeClr val="bg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6F00"/>
                    </a:solidFill>
                  </a:tcPr>
                </a:tc>
                <a:tc hMerge="1">
                  <a:txBody>
                    <a:bodyPr/>
                    <a:lstStyle/>
                    <a:p>
                      <a:pPr algn="ctr" latinLnBrk="1"/>
                      <a:endParaRPr lang="ko-KR" altLang="en-US" dirty="0">
                        <a:solidFill>
                          <a:schemeClr val="bg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6F00"/>
                    </a:solidFill>
                  </a:tcPr>
                </a:tc>
                <a:tc hMerge="1">
                  <a:txBody>
                    <a:bodyPr/>
                    <a:lstStyle/>
                    <a:p>
                      <a:pPr algn="ctr" latinLnBrk="1"/>
                      <a:endParaRPr lang="ko-KR" altLang="en-US" dirty="0">
                        <a:solidFill>
                          <a:schemeClr val="bg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6F00"/>
                    </a:solidFill>
                  </a:tcPr>
                </a:tc>
                <a:tc hMerge="1">
                  <a:txBody>
                    <a:bodyPr/>
                    <a:lstStyle/>
                    <a:p>
                      <a:pPr algn="ctr" latinLnBrk="1"/>
                      <a:endParaRPr lang="ko-KR" altLang="en-US" dirty="0">
                        <a:solidFill>
                          <a:schemeClr val="bg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6F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32358826"/>
                  </a:ext>
                </a:extLst>
              </a:tr>
              <a:tr h="2806208">
                <a:tc>
                  <a:txBody>
                    <a:bodyPr wrap="square"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sz="1000">
                          <a:solidFill>
                            <a:srgbClr val="1F2326"/>
                          </a:solidFill>
                        </a:rPr>
                        <a:t/>
                      </a:r>
                      <a:endParaRPr lang="en-US" altLang="ko-KR" sz="1800" b="0" dirty="0" smtClean="0">
                        <a:solidFill>
                          <a:srgbClr val="FF0000"/>
                        </a:solidFill>
                        <a:latin typeface="+mn-lt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sz="1000">
                          <a:solidFill>
                            <a:srgbClr val="1F2326"/>
                          </a:solidFill>
                        </a:rPr>
                        <a:t/>
                      </a:r>
                      <a:endParaRPr lang="ko-KR" altLang="en-US" b="0" dirty="0" smtClean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sz="1000">
                          <a:solidFill>
                            <a:srgbClr val="1F2326"/>
                          </a:solidFill>
                        </a:rPr>
                        <a:t/>
                      </a:r>
                      <a:endParaRPr lang="ko-KR" altLang="en-US" b="0" dirty="0" smtClean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sz="1000">
                          <a:solidFill>
                            <a:srgbClr val="1F2326"/>
                          </a:solidFill>
                        </a:rPr>
                        <a:t/>
                      </a:r>
                      <a:endParaRPr lang="ko-KR" altLang="en-US" b="0" dirty="0" smtClean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357600838"/>
                  </a:ext>
                </a:extLst>
              </a:tr>
              <a:tr h="1433874">
                <a:tc>
                  <a:txBody>
                    <a:bodyPr wrap="square"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sz="1050" b="1">
                          <a:solidFill>
                            <a:srgbClr val="1F2326"/>
                          </a:solidFill>
                        </a:rPr>
                        <a:t>① 온보딩</a:t>
                      </a:r>
                      <a:endParaRPr lang="en-US" altLang="ko-KR" b="0" dirty="0" smtClean="0">
                        <a:solidFill>
                          <a:schemeClr val="tx1"/>
                        </a:solidFill>
                      </a:endParaRPr>
                    </a:p>
                    <a:p>
                      <a:pPr algn="l" marL="201168" indent="-128016"/>
                      <a:r>
                        <a:rPr sz="1000">
                          <a:solidFill>
                            <a:srgbClr val="3E4347"/>
                          </a:solidFill>
                        </a:rPr>
                        <a:t>‒ 「앞쪽에 뭐가 있는지, 카드 한 장으로」</a:t>
                      </a:r>
                    </a:p>
                    <a:p>
                      <a:pPr algn="l" marL="201168" indent="-128016"/>
                      <a:r>
                        <a:rPr sz="1000">
                          <a:solidFill>
                            <a:srgbClr val="3E4347"/>
                          </a:solidFill>
                        </a:rPr>
                        <a:t>‒ 소리·알림 안내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 latinLnBrk="1"/>
                      <a:r>
                        <a:rPr sz="1050" b="1">
                          <a:solidFill>
                            <a:srgbClr val="1F2326"/>
                          </a:solidFill>
                        </a:rPr>
                        <a:t>② 음성 낭독</a:t>
                      </a:r>
                      <a:endParaRPr lang="ko-KR" altLang="en-US" b="0" dirty="0">
                        <a:solidFill>
                          <a:schemeClr val="tx1"/>
                        </a:solidFill>
                      </a:endParaRPr>
                    </a:p>
                    <a:p>
                      <a:pPr algn="l" marL="201168" indent="-128016"/>
                      <a:r>
                        <a:rPr sz="1000">
                          <a:solidFill>
                            <a:srgbClr val="3E4347"/>
                          </a:solidFill>
                        </a:rPr>
                        <a:t>‒ 카드 문장을 그대로 읽음</a:t>
                      </a:r>
                    </a:p>
                    <a:p>
                      <a:pPr algn="l" marL="201168" indent="-128016"/>
                      <a:r>
                        <a:rPr sz="1000">
                          <a:solidFill>
                            <a:srgbClr val="3E4347"/>
                          </a:solidFill>
                        </a:rPr>
                        <a:t>‒ 내비 음성을 끊지 않고 잠시 낮춤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 latinLnBrk="1"/>
                      <a:r>
                        <a:rPr sz="1050" b="1">
                          <a:solidFill>
                            <a:srgbClr val="1F2326"/>
                          </a:solidFill>
                        </a:rPr>
                        <a:t>③ 설정</a:t>
                      </a:r>
                      <a:endParaRPr lang="ko-KR" altLang="en-US" b="0" dirty="0">
                        <a:solidFill>
                          <a:schemeClr val="tx1"/>
                        </a:solidFill>
                      </a:endParaRPr>
                    </a:p>
                    <a:p>
                      <a:pPr algn="l" marL="201168" indent="-128016"/>
                      <a:r>
                        <a:rPr sz="1000">
                          <a:solidFill>
                            <a:srgbClr val="3E4347"/>
                          </a:solidFill>
                        </a:rPr>
                        <a:t>‒ 「앱을 꺼둬도 알림」(백그라운드 위치 옵트인)</a:t>
                      </a:r>
                    </a:p>
                    <a:p>
                      <a:pPr algn="l" marL="201168" indent="-128016"/>
                      <a:r>
                        <a:rPr sz="1000">
                          <a:solidFill>
                            <a:srgbClr val="3E4347"/>
                          </a:solidFill>
                        </a:rPr>
                        <a:t>‒ 「발견 간격」 자주·보통·가끔 · 데이터 출처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 latinLnBrk="1"/>
                      <a:r>
                        <a:rPr sz="1050" b="1">
                          <a:solidFill>
                            <a:srgbClr val="1F2326"/>
                          </a:solidFill>
                        </a:rPr>
                        <a:t>④ 알림 → 상세</a:t>
                      </a:r>
                      <a:endParaRPr lang="ko-KR" altLang="en-US" b="0" dirty="0">
                        <a:solidFill>
                          <a:schemeClr val="tx1"/>
                        </a:solidFill>
                      </a:endParaRPr>
                    </a:p>
                    <a:p>
                      <a:pPr algn="l" marL="201168" indent="-128016"/>
                      <a:r>
                        <a:rPr sz="1000">
                          <a:solidFill>
                            <a:srgbClr val="3E4347"/>
                          </a:solidFill>
                        </a:rPr>
                        <a:t>‒ 알림 선택 시</a:t>
                      </a:r>
                    </a:p>
                    <a:p>
                      <a:pPr algn="l" marL="201168" indent="-128016"/>
                      <a:r>
                        <a:rPr sz="1000">
                          <a:solidFill>
                            <a:srgbClr val="3E4347"/>
                          </a:solidFill>
                        </a:rPr>
                        <a:t>‒ 해당 발견의 상세 화면으로 이동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293083417"/>
                  </a:ext>
                </a:extLst>
              </a:tr>
            </a:tbl>
          </a:graphicData>
        </a:graphic>
      </p:graphicFrame>
      <p:graphicFrame>
        <p:nvGraphicFramePr>
          <p:cNvPr id="15" name="표 14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744280268"/>
              </p:ext>
            </p:extLst>
          </p:nvPr>
        </p:nvGraphicFramePr>
        <p:xfrm>
          <a:off x="302952" y="1130530"/>
          <a:ext cx="11426308" cy="7315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82764">
                  <a:extLst>
                    <a:ext uri="{9D8B030D-6E8A-4147-A177-3AD203B41FA5}">
                      <a16:colId xmlns:a16="http://schemas.microsoft.com/office/drawing/2014/main" val="837638667"/>
                    </a:ext>
                  </a:extLst>
                </a:gridCol>
                <a:gridCol w="9643544">
                  <a:extLst>
                    <a:ext uri="{9D8B030D-6E8A-4147-A177-3AD203B41FA5}">
                      <a16:colId xmlns:a16="http://schemas.microsoft.com/office/drawing/2014/main" val="2364043552"/>
                    </a:ext>
                  </a:extLst>
                </a:gridCol>
              </a:tblGrid>
              <a:tr h="236913">
                <a:tc>
                  <a:txBody>
                    <a:bodyPr wrap="square"/>
                    <a:lstStyle/>
                    <a:p>
                      <a:pPr algn="ctr" latinLnBrk="1"/>
                      <a:r>
                        <a:rPr sz="1400" b="1">
                          <a:solidFill>
                            <a:srgbClr val="1F2326"/>
                          </a:solidFill>
                        </a:rPr>
                        <a:t>핵심 기능5</a:t>
                      </a:r>
                      <a:endParaRPr lang="ko-KR" altLang="en-US" b="1" dirty="0">
                        <a:solidFill>
                          <a:schemeClr val="bg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A401"/>
                    </a:solidFill>
                  </a:tcPr>
                </a:tc>
                <a:tc>
                  <a:txBody>
                    <a:bodyPr wrap="square"/>
                    <a:lstStyle/>
                    <a:p>
                      <a:pPr latinLnBrk="1" algn="l"/>
                      <a:r>
                        <a:rPr sz="1400" b="1">
                          <a:solidFill>
                            <a:srgbClr val="1F2326"/>
                          </a:solidFill>
                        </a:rPr>
                        <a:t>소리 · 알림 · 설정</a:t>
                      </a:r>
                      <a:endParaRPr lang="ko-KR" altLang="en-US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576143207"/>
                  </a:ext>
                </a:extLst>
              </a:tr>
              <a:tr h="236913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b="1" dirty="0" smtClean="0">
                          <a:solidFill>
                            <a:schemeClr val="bg1"/>
                          </a:solidFill>
                        </a:rPr>
                        <a:t>기능 설명</a:t>
                      </a:r>
                      <a:endParaRPr lang="ko-KR" altLang="en-US" b="1" dirty="0">
                        <a:solidFill>
                          <a:schemeClr val="bg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A401"/>
                    </a:solidFill>
                  </a:tcPr>
                </a:tc>
                <a:tc>
                  <a:txBody>
                    <a:bodyPr wrap="square"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sz="1100">
                          <a:solidFill>
                            <a:srgbClr val="1F2326"/>
                          </a:solidFill>
                        </a:rPr>
                        <a:t>주행 중 화면 대신 소리로 우선 안내, 놓친 발견은 알림에 보관</a:t>
                      </a:r>
                      <a:endParaRPr lang="ko-KR" altLang="en-US" b="0" dirty="0" smtClean="0">
                        <a:solidFill>
                          <a:schemeClr val="tx1"/>
                        </a:solidFill>
                      </a:endParaRPr>
                    </a:p>
                    <a:p>
                      <a:pPr algn="l"/>
                      <a:r>
                        <a:rPr sz="1100">
                          <a:solidFill>
                            <a:srgbClr val="1F2326"/>
                          </a:solidFill>
                        </a:rPr>
                        <a:t>위치 권한은 출발 시, 알림 권한은 첫 주행 후 요청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502682219"/>
                  </a:ext>
                </a:extLst>
              </a:tr>
            </a:tbl>
          </a:graphicData>
        </a:graphic>
      </p:graphicFrame>
      <p:pic>
        <p:nvPicPr>
          <p:cNvPr id="16" name="Picture 15" descr="1_hom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19128" y="2333623"/>
            <a:ext cx="1224223" cy="2659904"/>
          </a:xfrm>
          <a:prstGeom prst="rect">
            <a:avLst/>
          </a:prstGeom>
        </p:spPr>
      </p:pic>
      <p:pic>
        <p:nvPicPr>
          <p:cNvPr id="17" name="Picture 16" descr="home_expan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975705" y="2333623"/>
            <a:ext cx="1224223" cy="2659904"/>
          </a:xfrm>
          <a:prstGeom prst="rect">
            <a:avLst/>
          </a:prstGeom>
        </p:spPr>
      </p:pic>
      <p:pic>
        <p:nvPicPr>
          <p:cNvPr id="18" name="Picture 17" descr="2_depart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832282" y="2333623"/>
            <a:ext cx="1224223" cy="2659904"/>
          </a:xfrm>
          <a:prstGeom prst="rect">
            <a:avLst/>
          </a:prstGeom>
        </p:spPr>
      </p:pic>
      <p:pic>
        <p:nvPicPr>
          <p:cNvPr id="19" name="Picture 18" descr="onboard3-t6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19128" y="2333623"/>
            <a:ext cx="1224223" cy="2659904"/>
          </a:xfrm>
          <a:prstGeom prst="rect">
            <a:avLst/>
          </a:prstGeom>
        </p:spPr>
      </p:pic>
      <p:pic>
        <p:nvPicPr>
          <p:cNvPr id="20" name="Picture 19" descr="3_car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975705" y="2333623"/>
            <a:ext cx="1224223" cy="2659904"/>
          </a:xfrm>
          <a:prstGeom prst="rect">
            <a:avLst/>
          </a:prstGeom>
        </p:spPr>
      </p:pic>
      <p:pic>
        <p:nvPicPr>
          <p:cNvPr id="21" name="Picture 20" descr="myset2-t8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832282" y="2333623"/>
            <a:ext cx="1224223" cy="2659904"/>
          </a:xfrm>
          <a:prstGeom prst="rect">
            <a:avLst/>
          </a:prstGeom>
        </p:spPr>
      </p:pic>
      <p:pic>
        <p:nvPicPr>
          <p:cNvPr id="22" name="Picture 21" descr="5_spot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688859" y="2333623"/>
            <a:ext cx="1224223" cy="2659904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맑은 고딕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맑은 고딕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맑은 고딕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맑은 고딕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408</TotalTime>
  <Words>549</Words>
  <Application>Microsoft Office PowerPoint</Application>
  <PresentationFormat>와이드스크린</PresentationFormat>
  <Paragraphs>95</Paragraphs>
  <Slides>9</Slides>
  <Notes>0</Notes>
  <HiddenSlides>0</HiddenSlides>
  <MMClips>0</MMClips>
  <ScaleCrop>false</ScaleCrop>
  <HeadingPairs>
    <vt:vector size="6" baseType="variant">
      <vt:variant>
        <vt:lpstr>사용한 글꼴</vt:lpstr>
      </vt:variant>
      <vt:variant>
        <vt:i4>3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9</vt:i4>
      </vt:variant>
    </vt:vector>
  </HeadingPairs>
  <TitlesOfParts>
    <vt:vector size="13" baseType="lpstr">
      <vt:lpstr>Noto Sans KR Medium</vt:lpstr>
      <vt:lpstr>맑은 고딕</vt:lpstr>
      <vt:lpstr>Arial</vt:lpstr>
      <vt:lpstr>Office 테마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프레젠테이션</dc:title>
  <dc:creator>KTO</dc:creator>
  <cp:lastModifiedBy>USER</cp:lastModifiedBy>
  <cp:revision>64</cp:revision>
  <dcterms:created xsi:type="dcterms:W3CDTF">2026-07-07T05:25:59Z</dcterms:created>
  <dcterms:modified xsi:type="dcterms:W3CDTF">2026-07-29T05:45:18Z</dcterms:modified>
</cp:coreProperties>
</file>